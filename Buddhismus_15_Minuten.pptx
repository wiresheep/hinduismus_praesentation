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0:40 Minuten.</a:t>
            </a:r>
          </a:p>
          <a:p/>
          <a:p>
            <a:r>
              <a:t>Einstieg: Was fällt euch zu Buddhismus ein? Vielleicht Meditation, Buddhafiguren oder Gelassenheit. Diese Bilder sind bekannt, beschreiben aber nur einen Teil der Religion. Unsere Leitfrage lautet: Wie lässt sich Leid überwinden? Buddhistische Traditionen geben darauf Antworten, die Denken, ethisches Handeln und geistige Übung miteinander verbinden. Gleichzeitig gibt es nicht den einen Buddhismus, sondern unterschiedliche Gemeinschaften und Traditionen. Das Titelbild ist eine KI-Illustration einer Stupa, kein Foto eines bestimmten Ortes. Wir schauen zuerst auf den Buddha, dann auf zentrale Lehren, gelebte Religion und schließlich auf Fragen für die Gegenwart.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1:10 Minuten.</a:t>
            </a:r>
          </a:p>
          <a:p/>
          <a:p>
            <a:r>
              <a:t>Siddhartha Gautama lebte im ersten Jahrtausend vor Christus im nordindischen Raum; seine genauen Lebensdaten sind umstritten. Traditionell wird sein Geburtsort in Lumbini im heutigen Nepal verortet. Die bekannte Geschichte von den Begegnungen mit Alter, Krankheit, Tod und einem Asketen erklärt religiös, weshalb er nach einem Weg aus dem Leid suchte. Sie ist keine lückenlos überprüfbare Biografie. Nach extremen asketischen Übungen wandte er sich einem mittleren Weg zwischen Selbstquälerei und sinnlichem Übermaß zu. Nach der Überlieferung erwachte er in Bodh Gaya und lehrte anschließend. Buddha bedeutet der Erwachte, nicht Schöpfergott. Er wird verehrt und gilt als Lehrer eines Weges; in manchen Traditionen gibt es weitere Buddhas und transzendente Vorstellungen. Wichtig ist die Unterscheidung zwischen historischer Forschung und religiöser Überlieferung.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1:25 Minuten.</a:t>
            </a:r>
          </a:p>
          <a:p/>
          <a:p>
            <a:r>
              <a:t>Die vier edlen Wahrheiten lassen sich wie eine Diagnose verstehen, wobei das nur ein didaktischer Vergleich ist. Erstens Dukkha: Zum Leben gehören Leid und eine grundlegende Unzulänglichkeit. Auch Angenehmes bietet keine dauerhafte Sicherheit, weil es sich verändert. Die Aussage bedeutet nicht, dass jede Minute des Lebens unglücklich sein muss. Zweitens hat Dukkha Ursachen: insbesondere Durst oder Verlangen, Anhaften und Unwissenheit. Es geht nicht darum, jeden Wunsch, etwa den Wunsch zu helfen, als schlecht zu bewerten. Drittens kann dieses Anhaften überwunden werden; Befreiung ist möglich. Viertens führt ein Weg dahin: der edle achtfache Pfad. Man kann die vier Punkte als Leid, Entstehung, Aufhebung und Weg zusammenfassen. Als Alltagsbeispiel eignet sich die Erwartung, ein Erfolg müsse dauerhaft glücklich machen. Die Enttäuschung entsteht auch aus unserem Festhalten an dieser Erwartung.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1:25 Minuten.</a:t>
            </a:r>
          </a:p>
          <a:p/>
          <a:p>
            <a:r>
              <a:t>Der achtfache Pfad umfasst acht miteinander verbundene Bereiche und ist keine Treppe, die man einmal nacheinander abarbeitet. Zur Weisheit gehören rechte Sicht und rechte Absicht. Rechte Sicht betrifft unter anderem das Verständnis der vier Wahrheiten; rechte Absicht eine Haltung von Wohlwollen und Nichtschädigung. Zur ethischen Lebensführung gehören rechte Rede, rechtes Handeln und rechter Lebensunterhalt. Zur geistigen Schulung gehören rechte Anstrengung, rechte Achtsamkeit und rechte Sammlung. Recht bedeutet hier heilsam oder dem Weg angemessen, nicht politisch rechts. Eine Anwendung im Schulalltag wäre rechte Rede: Ist eine Nachricht wahr, hilfreich und vermeidet sie unnötige Verletzung? Zu den fünf üblichen Übungsregeln für Laien zählen das Vermeiden von Töten, Stehlen, sexuellem Fehlverhalten, Lügen und berauschenden Mitteln, die Unachtsamkeit fördern. Die Regeln sind Trainingsprinzipien, keine Gebote eines Schöpfergottes.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1:15 Minuten.</a:t>
            </a:r>
          </a:p>
          <a:p/>
          <a:p>
            <a:r>
              <a:t>Drei häufig genannte Daseinsmerkmale helfen, die buddhistische Sicht zu verstehen. Anicca bedeutet Unbeständigkeit: Bedingte Dinge und Erfahrungen verändern sich. Dukkha bezeichnet ihre Unzulänglichkeit als dauerhafte Grundlage für Glück. Anatta heißt Nicht-Selbst: Ein dauerhaftes, unabhängiges und unveränderliches Selbst lässt sich nicht finden. Das ist nicht einfach die Aussage, dass Menschen überhaupt nicht existieren oder wertlos wären. Menschen bestehen aus miteinander verbundenen körperlichen und geistigen Prozessen. In den Lehren vom bedingten Entstehen wird betont, dass Phänomene abhängig von Bedingungen entstehen. Wenn die Bedingungen sich verändern, verändert sich das Ergebnis. Für die Klasse kann das Beispiel einer Persönlichkeit helfen: Erinnerungen, Gewohnheiten und Gefühle wandeln sich, ohne dass deshalb Verantwortung oder die alltägliche Person bedeutungslos werden. Die verschiedenen Schulen erklären diese Fragen unterschiedlich detailliert.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1:10 Minuten.</a:t>
            </a:r>
          </a:p>
          <a:p/>
          <a:p>
            <a:r>
              <a:t>Karma bezeichnet im Buddhismus vor allem absichtsvolles Handeln durch Körper, Rede und Geist und seine Folgen. Es ist nicht einfach ein festes Schicksal und kein vollständiges Erklärungsmodell für jede Krankheit oder jedes Unglück. Deshalb darf die Idee nicht dazu dienen, Leidenden pauschal die Schuld zuzuschieben. Samsara bezeichnet den Kreislauf von Geburt und Wiedergeburt. Hier entsteht eine schwierige Frage: Wenn es keine unveränderliche Seele gibt, was wird wiedergeboren? Buddhistische Traditionen erklären dies durch bedingte Kontinuität von Prozessen, nicht durch die Wanderung eines ewigen Selbst. Ein verbreitetes Bild ist eine Flamme, die eine andere entzündet: Es besteht ein Zusammenhang, ohne dass eine unveränderte Substanz übertragen wird. Das Bild ist eine Veranschaulichung, kein Beweis für Wiedergeburt. In modernen säkularen Deutungen werden manche dieser Vorstellungen anders verstanden.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1:10 Minuten.</a:t>
            </a:r>
          </a:p>
          <a:p/>
          <a:p>
            <a:r>
              <a:t>Nirvana bezeichnet die Befreiung vom Anhaften und von den Ursachen des Leidens. Das Sanskritwort Nirvana und das Paliwort Nibbana bezeichnen denselben zentralen Begriff. Oft wird das Erlöschen von Gier, Hass und Verblendung als Erklärung verwendet. Gemeint ist nicht bloß ein angenehmer Entspannungszustand. Nirvana ist auch nicht einfach ein Himmel, in den eine ewige Seele einzieht. Nach klassischer Lehre kann Befreiung bereits zu Lebzeiten verwirklicht werden; die Traditionen beschreiben ihren Status unterschiedlich. Das gewöhnliche Leben und Beziehungen werden dadurch nicht wertlos. Vielmehr stehen Einsicht, Mitgefühl und die Befreiung aus schädlichen Mustern im Mittelpunkt. Die Metapher vom Erlöschen bezieht sich auf die Feuer von Gier, Hass und Verblendung und sollte nicht schlicht als Selbstvernichtung verstanden werden.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1:05 Minuten.</a:t>
            </a:r>
          </a:p>
          <a:p/>
          <a:p>
            <a:r>
              <a:t>Buddhistische Praxis ist breiter als Meditation. Sie kann das Hören und Rezitieren von Texten, Opfergaben, Tempelbesuche, Pilgerreisen und ethische Übung umfassen. Meditation hat unterschiedliche Formen: Manche fördern Sammlung und Ruhe, andere Einsicht in die Erfahrung. Mitgefühl wird ebenfalls gezielt eingeübt. Bei Vesak werden in vielen Gemeinschaften Geburt, Erwachen und Tod beziehungsweise endgültiges Nirvana des Buddha erinnert; Termine und Feierformen variieren regional. Die Stupa ist ein buddhistisches Bauwerk, das unter anderem Reliquien und Erinnerung verkörpert. Buddhafiguren und Rituale bedeuten nicht automatisch den Glauben an einen Schöpfergott. Wer Buddhismus nur als private Entspannungsmethode beschreibt, übersieht Gemeinschaft, religiöse Ziele und kulturelle Bedeutung.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1:05 Minuten.</a:t>
            </a:r>
          </a:p>
          <a:p/>
          <a:p>
            <a:r>
              <a:t>Die drei Juwelen sind Buddha, Dharma und Sangha. Dharma bedeutet hier die Lehre und den Weg des Buddha; das Wort hat im Hinduismus verwandte, aber nicht identische Bedeutungen. Sangha bezeichnet besonders die Gemeinschaft der Ordinierten und kann weiter gefasst auch die Gemeinschaft der Praktizierenden meinen. Die Zuflucht zu den drei Juwelen ist für viele ein Ausdruck buddhistischer Zugehörigkeit. Mönche und Nonnen leben nach besonderen Ordensregeln; Laien führen gewöhnlich Familien- und Berufsleben. Ihre Beziehungen beruhen oft auf Unterstützung und Vermittlung von Lehre. Das sind keine völlig getrennten Welten: Auch Laien können meditieren und tiefgehende Einsicht anstreben. Frauen haben von Anfang an eine Rolle, doch Anerkennung und Ordination von Nonnen unterscheiden sich zwischen Traditionen und werden heute diskutiert.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1:10 Minuten.</a:t>
            </a:r>
          </a:p>
          <a:p/>
          <a:p>
            <a:r>
              <a:t>Für einen Überblick unterscheidet man häufig Theravada, Mahayana und Vajrayana. Diese Einteilung ist eine Orientierung, keine vollständige Landkarte. Theravada ist unter anderem in Sri Lanka, Thailand und Myanmar verbreitet und orientiert sich besonders am Pali-Kanon. Das Arhat-Ideal bezeichnet Befreiung durch Überwindung der Ursachen des Leidens; Mitgefühl ist dabei keineswegs unwichtig. Mahayana ist besonders in Ostasien verbreitet und betont das Bodhisattva-Ideal: Erwachen zum Wohl aller Wesen. Zen und Reines-Land-Traditionen gehören zu diesem großen Spektrum. Vajrayana ist unter anderem im tibetischen Buddhismus zu finden und verwendet zusätzliche tantrische Rituale, Mantras und Visualisierungen, meist im Rahmen des Mahayana. Der Dalai Lama ist ein wichtiger Lehrer einer tibetischen Schule, nicht das Oberhaupt aller Buddhisten.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0:55 Minuten.</a:t>
            </a:r>
          </a:p>
          <a:p/>
          <a:p>
            <a:r>
              <a:t>Der Buddhismus entstand in Südasien und verbreitete sich über viele Jahrhunderte in unterschiedlichen Teilen Asiens. In Indien ging seine Bedeutung historisch stark zurück, während er anderswo neue Formen entwickelte. Heute gibt es buddhistische Gemeinschaften weltweit, auch in Deutschland, durch Migration, Konversion und kulturellen Austausch. Moderne Achtsamkeitsangebote können aus buddhistischen Übungen hervorgegangen sein, verfolgen aber nicht immer dieselben religiösen Ziele. Man sollte fragen, ob es um Befreiung, Ethik, Therapie oder Produktivität geht. Gewaltlosigkeit und Mitgefühl sind wichtige Ideale, dennoch sind buddhistisch geprägte Gesellschaften nicht frei von Machtkonflikten oder Gewalt. Eine Religion muss sowohl anhand ihrer Ideale als auch anhand ihrer sozialen Wirklichkeit betrachtet werden.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0:55 Minuten.</a:t>
            </a:r>
          </a:p>
          <a:p/>
          <a:p>
            <a:r>
              <a:t>Hinduismus und Buddhismus sind historisch miteinander verbunden. Beide beschäftigen sich mit Karma, Wiedergeburt und Befreiung, deuten diese jedoch unterschiedlich. Viele hinduistische Schulen sprechen von Atman, einem Selbst; Anatta ist dagegen eine zentrale buddhistische Lehre. Auch Hinduismus ist vielfältig und nicht jede Schule denkt gleich über das Selbst. Der Buddha begründet seinen Weg nicht mit der verbindlichen Autorität der Veden. Buddhismus kennt keinen für die Befreiung notwendigen Schöpfergott, schließt aber in vielen Traditionen Götter und himmlische Wesen ein. Deshalb sind Aussagen wie Buddhismus ist bloß Philosophie oder alle Religionen sagen dasselbe zu einfach. Gelebte Religionen können sich in Regionen dennoch gegenseitig beeinflussen.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1:35 Minuten.</a:t>
            </a:r>
          </a:p>
          <a:p/>
          <a:p>
            <a:r>
              <a:t>Fazit in drei Sätzen: Buddhismus setzt bei der Erfahrung von Leid und Unbeständigkeit an. Ethisches Handeln, geistige Übung und Einsicht bilden einen zusammengehörigen Weg. Die Umsetzung unterscheidet sich in vielfältigen Gemeinschaften. Jetzt etwa eine Minute Austausch: Macht Loslassen gleichgültig – oder kann es Mitgefühl stärken? Als Beispiel anbieten: Ich helfe einer anderen Person, ohne eine Gegenleistung oder vollständige Kontrolle über das Ergebnis zu erwarten. Zwei kurze Antworten sammeln. Dann unterscheiden: Loslassen von Anhaften ist nicht dasselbe wie Rückzug aus jeder Verantwortung. Zugleich kann die Vorstellung missbraucht werden, um soziale Probleme zu verdrängen. Diese Spannung verbindet persönliche Lebensführung und gesellschaftliche Verantwortung und eignet sich deshalb als abschließende Frage im Religionsunterricht.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Zielzeit: 0:00 Minuten.</a:t>
            </a:r>
          </a:p>
          <a:p/>
          <a:p>
            <a:r>
              <a:t>Quellen zur Nachprüfung und Vertiefung. Einführungen: Encyclopaedia Britannica, Buddhism, https://www.britannica.com/topic/Buddhism ; BBC Religion, Buddhism, https://www.bbc.co.uk/religion/religions/buddhism/ . Primärtexte in englischer Übersetzung: SN 56.11, Dhammacakkappavattana Sutta, https://www.accesstoinsight.org/tipitaka/sn/sn56/sn56.011.than.html ; SN 22.59, Anattalakkhana Sutta, https://www.accesstoinsight.org/tipitaka/sn/sn22/sn22.059.than.html . SN 56.11 behandelt unter anderem den mittleren Weg, die vier Wahrheiten und den achtfachen Pfad. SN 22.59 behandelt Nicht-Selbst. Pali-Kanon-Texte vertreten eine bestimmte Überlieferung, nicht alle buddhistischen Schulen zugleich. Die Webseiten konnten in dieser Sitzung wegen Zugriffsbeschränkungen nicht live geprüft werden. Titelbild und Bilddetails sind KI-generierte Illustrationen mit OpenAI, keine dokumentarischen Fotos. Das Rad des Dharma und die weiteren Schaubilder sind eigens erstellte PowerPoint-Grafiken.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D4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WIE LÄSST SICH LEID ÜBERWINDEN?</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F5EFE3"/>
                </a:solidFill>
                <a:latin typeface="Aptos"/>
              </a:defRPr>
            </a:pPr>
            <a:r>
              <a:t>Buddhismus</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01</a:t>
            </a:r>
          </a:p>
        </p:txBody>
      </p:sp>
      <p:pic>
        <p:nvPicPr>
          <p:cNvPr id="7" name="Picture 6" descr="buddhism_illustration.png"/>
          <p:cNvPicPr>
            <a:picLocks noChangeAspect="1"/>
          </p:cNvPicPr>
          <p:nvPr/>
        </p:nvPicPr>
        <p:blipFill>
          <a:blip r:embed="rId3"/>
          <a:srcRect l="12378" r="12378"/>
          <a:stretch>
            <a:fillRect/>
          </a:stretch>
        </p:blipFill>
        <p:spPr>
          <a:xfrm>
            <a:off x="5943600" y="1783080"/>
            <a:ext cx="5623560" cy="4206240"/>
          </a:xfrm>
          <a:prstGeom prst="rect">
            <a:avLst/>
          </a:prstGeom>
        </p:spPr>
      </p:pic>
      <p:sp>
        <p:nvSpPr>
          <p:cNvPr id="8" name="TextBox 7"/>
          <p:cNvSpPr txBox="1"/>
          <p:nvPr/>
        </p:nvSpPr>
        <p:spPr>
          <a:xfrm>
            <a:off x="685800" y="2286000"/>
            <a:ext cx="4937760" cy="2194560"/>
          </a:xfrm>
          <a:prstGeom prst="rect">
            <a:avLst/>
          </a:prstGeom>
          <a:noFill/>
        </p:spPr>
        <p:txBody>
          <a:bodyPr wrap="square" lIns="0" rIns="0" tIns="0" bIns="0">
            <a:spAutoFit/>
          </a:bodyPr>
          <a:lstStyle/>
          <a:p>
            <a:pPr>
              <a:spcAft>
                <a:spcPts val="1000"/>
              </a:spcAft>
              <a:defRPr sz="2700" b="0">
                <a:solidFill>
                  <a:srgbClr val="F5EFE3"/>
                </a:solidFill>
                <a:latin typeface="Aptos"/>
              </a:defRPr>
            </a:pPr>
            <a:r>
              <a:t>Verstehen.</a:t>
            </a:r>
          </a:p>
          <a:p>
            <a:pPr>
              <a:spcAft>
                <a:spcPts val="1000"/>
              </a:spcAft>
              <a:defRPr sz="2700" b="0">
                <a:solidFill>
                  <a:srgbClr val="F5EFE3"/>
                </a:solidFill>
                <a:latin typeface="Aptos"/>
              </a:defRPr>
            </a:pPr>
            <a:r>
              <a:t>Verantwortlich handeln.</a:t>
            </a:r>
          </a:p>
          <a:p>
            <a:pPr>
              <a:spcAft>
                <a:spcPts val="1000"/>
              </a:spcAft>
              <a:defRPr sz="2700" b="0">
                <a:solidFill>
                  <a:srgbClr val="F5EFE3"/>
                </a:solidFill>
                <a:latin typeface="Aptos"/>
              </a:defRPr>
            </a:pPr>
            <a:r>
              <a:t>Achtsam leben.</a:t>
            </a:r>
          </a:p>
        </p:txBody>
      </p:sp>
      <p:sp>
        <p:nvSpPr>
          <p:cNvPr id="9" name="TextBox 8"/>
          <p:cNvSpPr txBox="1"/>
          <p:nvPr/>
        </p:nvSpPr>
        <p:spPr>
          <a:xfrm>
            <a:off x="685800" y="5303520"/>
            <a:ext cx="5029200" cy="457200"/>
          </a:xfrm>
          <a:prstGeom prst="rect">
            <a:avLst/>
          </a:prstGeom>
          <a:noFill/>
        </p:spPr>
        <p:txBody>
          <a:bodyPr wrap="square" lIns="0" rIns="0" tIns="0" bIns="0">
            <a:spAutoFit/>
          </a:bodyPr>
          <a:lstStyle/>
          <a:p>
            <a:pPr>
              <a:spcAft>
                <a:spcPts val="1000"/>
              </a:spcAft>
              <a:defRPr sz="1700" b="0">
                <a:solidFill>
                  <a:srgbClr val="C89C51"/>
                </a:solidFill>
                <a:latin typeface="Aptos"/>
              </a:defRPr>
            </a:pPr>
            <a:r>
              <a:t>15 Minuten · Religion · Klasse 13</a:t>
            </a:r>
          </a:p>
        </p:txBody>
      </p:sp>
      <p:sp>
        <p:nvSpPr>
          <p:cNvPr id="10" name="TextBox 9"/>
          <p:cNvSpPr txBox="1"/>
          <p:nvPr/>
        </p:nvSpPr>
        <p:spPr>
          <a:xfrm>
            <a:off x="5989320" y="6080760"/>
            <a:ext cx="5486400" cy="201168"/>
          </a:xfrm>
          <a:prstGeom prst="rect">
            <a:avLst/>
          </a:prstGeom>
          <a:noFill/>
        </p:spPr>
        <p:txBody>
          <a:bodyPr wrap="square" lIns="0" rIns="0" tIns="0" bIns="0">
            <a:spAutoFit/>
          </a:bodyPr>
          <a:lstStyle/>
          <a:p>
            <a:pPr>
              <a:spcAft>
                <a:spcPts val="1000"/>
              </a:spcAft>
              <a:defRPr sz="900" b="0">
                <a:solidFill>
                  <a:srgbClr val="C89C51"/>
                </a:solidFill>
                <a:latin typeface="Aptos"/>
              </a:defRPr>
            </a:pPr>
            <a:r>
              <a:t>KI-Illustration · kein dokumentarisches Foto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01 / SIDDHARTHA GAUTAMA</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Vom Suchenden zum Erwachten</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02</a:t>
            </a:r>
          </a:p>
        </p:txBody>
      </p:sp>
      <p:sp>
        <p:nvSpPr>
          <p:cNvPr id="7" name="Rounded Rectangle 6"/>
          <p:cNvSpPr/>
          <p:nvPr/>
        </p:nvSpPr>
        <p:spPr>
          <a:xfrm>
            <a:off x="640080" y="2103120"/>
            <a:ext cx="352044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Die Suche</a:t>
            </a:r>
          </a:p>
        </p:txBody>
      </p:sp>
      <p:sp>
        <p:nvSpPr>
          <p:cNvPr id="10" name="TextBox 9"/>
          <p:cNvSpPr txBox="1"/>
          <p:nvPr/>
        </p:nvSpPr>
        <p:spPr>
          <a:xfrm>
            <a:off x="914400" y="2971800"/>
            <a:ext cx="297180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Alter, Krankheit und Tod</a:t>
            </a:r>
          </a:p>
          <a:p>
            <a:pPr>
              <a:spcAft>
                <a:spcPts val="1000"/>
              </a:spcAft>
              <a:defRPr sz="2000" b="0">
                <a:solidFill>
                  <a:srgbClr val="173238"/>
                </a:solidFill>
                <a:latin typeface="Aptos"/>
              </a:defRPr>
            </a:pPr>
            <a:r>
              <a:t>fordern Lebenssicherheit heraus.</a:t>
            </a:r>
          </a:p>
        </p:txBody>
      </p:sp>
      <p:sp>
        <p:nvSpPr>
          <p:cNvPr id="11" name="Rounded Rectangle 10"/>
          <p:cNvSpPr/>
          <p:nvPr/>
        </p:nvSpPr>
        <p:spPr>
          <a:xfrm>
            <a:off x="4343400" y="2103120"/>
            <a:ext cx="352044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Der mittlere Weg</a:t>
            </a:r>
          </a:p>
        </p:txBody>
      </p:sp>
      <p:sp>
        <p:nvSpPr>
          <p:cNvPr id="14" name="TextBox 13"/>
          <p:cNvSpPr txBox="1"/>
          <p:nvPr/>
        </p:nvSpPr>
        <p:spPr>
          <a:xfrm>
            <a:off x="4617720" y="2971800"/>
            <a:ext cx="297180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Weder sinnliches Übermaß</a:t>
            </a:r>
          </a:p>
          <a:p>
            <a:pPr>
              <a:spcAft>
                <a:spcPts val="1000"/>
              </a:spcAft>
              <a:defRPr sz="2000" b="0">
                <a:solidFill>
                  <a:srgbClr val="173238"/>
                </a:solidFill>
                <a:latin typeface="Aptos"/>
              </a:defRPr>
            </a:pPr>
            <a:r>
              <a:t>noch extreme Selbstquälerei.</a:t>
            </a:r>
          </a:p>
        </p:txBody>
      </p:sp>
      <p:sp>
        <p:nvSpPr>
          <p:cNvPr id="15" name="Rounded Rectangle 14"/>
          <p:cNvSpPr/>
          <p:nvPr/>
        </p:nvSpPr>
        <p:spPr>
          <a:xfrm>
            <a:off x="8046720" y="2103120"/>
            <a:ext cx="352044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Erwachen</a:t>
            </a:r>
          </a:p>
        </p:txBody>
      </p:sp>
      <p:sp>
        <p:nvSpPr>
          <p:cNvPr id="18" name="TextBox 17"/>
          <p:cNvSpPr txBox="1"/>
          <p:nvPr/>
        </p:nvSpPr>
        <p:spPr>
          <a:xfrm>
            <a:off x="8321040" y="2971800"/>
            <a:ext cx="297180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Buddha = der Erwachte.</a:t>
            </a:r>
          </a:p>
          <a:p>
            <a:pPr>
              <a:spcAft>
                <a:spcPts val="1000"/>
              </a:spcAft>
              <a:defRPr sz="2000" b="0">
                <a:solidFill>
                  <a:srgbClr val="173238"/>
                </a:solidFill>
                <a:latin typeface="Aptos"/>
              </a:defRPr>
            </a:pPr>
            <a:r>
              <a:t>Lehrer eines Befreiungsweges.</a:t>
            </a:r>
          </a:p>
        </p:txBody>
      </p:sp>
      <p:sp>
        <p:nvSpPr>
          <p:cNvPr id="19" name="TextBox 18"/>
          <p:cNvSpPr txBox="1"/>
          <p:nvPr/>
        </p:nvSpPr>
        <p:spPr>
          <a:xfrm>
            <a:off x="731520" y="5760720"/>
            <a:ext cx="10698480" cy="320040"/>
          </a:xfrm>
          <a:prstGeom prst="rect">
            <a:avLst/>
          </a:prstGeom>
          <a:noFill/>
        </p:spPr>
        <p:txBody>
          <a:bodyPr wrap="square" lIns="0" rIns="0" tIns="0" bIns="0">
            <a:spAutoFit/>
          </a:bodyPr>
          <a:lstStyle/>
          <a:p>
            <a:pPr>
              <a:spcAft>
                <a:spcPts val="1000"/>
              </a:spcAft>
              <a:defRPr sz="1400" b="0">
                <a:solidFill>
                  <a:srgbClr val="577477"/>
                </a:solidFill>
                <a:latin typeface="Aptos"/>
              </a:defRPr>
            </a:pPr>
            <a:r>
              <a:t>Historischer Buddha: Lebensdaten umstritten · Lebensgeschichten enthalten religiöse Überlieferung.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02 / LEID VERSTEHEN</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Die vier edlen Wahrheiten</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03</a:t>
            </a:r>
          </a:p>
        </p:txBody>
      </p:sp>
      <p:sp>
        <p:nvSpPr>
          <p:cNvPr id="7" name="Rounded Rectangle 6"/>
          <p:cNvSpPr/>
          <p:nvPr/>
        </p:nvSpPr>
        <p:spPr>
          <a:xfrm>
            <a:off x="640080" y="2011680"/>
            <a:ext cx="530352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21284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94560"/>
            <a:ext cx="475488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1 · Dukkha</a:t>
            </a:r>
          </a:p>
        </p:txBody>
      </p:sp>
      <p:sp>
        <p:nvSpPr>
          <p:cNvPr id="10" name="TextBox 9"/>
          <p:cNvSpPr txBox="1"/>
          <p:nvPr/>
        </p:nvSpPr>
        <p:spPr>
          <a:xfrm>
            <a:off x="914400" y="2880360"/>
            <a:ext cx="4754880" cy="914399"/>
          </a:xfrm>
          <a:prstGeom prst="rect">
            <a:avLst/>
          </a:prstGeom>
          <a:noFill/>
        </p:spPr>
        <p:txBody>
          <a:bodyPr wrap="square" lIns="0" rIns="0" tIns="0" bIns="0">
            <a:spAutoFit/>
          </a:bodyPr>
          <a:lstStyle/>
          <a:p>
            <a:pPr>
              <a:spcAft>
                <a:spcPts val="1000"/>
              </a:spcAft>
              <a:defRPr sz="2000" b="0">
                <a:solidFill>
                  <a:srgbClr val="173238"/>
                </a:solidFill>
                <a:latin typeface="Aptos"/>
              </a:defRPr>
            </a:pPr>
            <a:r>
              <a:t>Leid und Unzulänglichkeit gehören zum Leben.</a:t>
            </a:r>
          </a:p>
        </p:txBody>
      </p:sp>
      <p:sp>
        <p:nvSpPr>
          <p:cNvPr id="11" name="Rounded Rectangle 10"/>
          <p:cNvSpPr/>
          <p:nvPr/>
        </p:nvSpPr>
        <p:spPr>
          <a:xfrm>
            <a:off x="6217920" y="2011680"/>
            <a:ext cx="530352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221284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194560"/>
            <a:ext cx="475488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2 · Entstehung</a:t>
            </a:r>
          </a:p>
        </p:txBody>
      </p:sp>
      <p:sp>
        <p:nvSpPr>
          <p:cNvPr id="14" name="TextBox 13"/>
          <p:cNvSpPr txBox="1"/>
          <p:nvPr/>
        </p:nvSpPr>
        <p:spPr>
          <a:xfrm>
            <a:off x="6492240" y="2880360"/>
            <a:ext cx="4754880" cy="914399"/>
          </a:xfrm>
          <a:prstGeom prst="rect">
            <a:avLst/>
          </a:prstGeom>
          <a:noFill/>
        </p:spPr>
        <p:txBody>
          <a:bodyPr wrap="square" lIns="0" rIns="0" tIns="0" bIns="0">
            <a:spAutoFit/>
          </a:bodyPr>
          <a:lstStyle/>
          <a:p>
            <a:pPr>
              <a:spcAft>
                <a:spcPts val="1000"/>
              </a:spcAft>
              <a:defRPr sz="2000" b="0">
                <a:solidFill>
                  <a:srgbClr val="173238"/>
                </a:solidFill>
                <a:latin typeface="Aptos"/>
              </a:defRPr>
            </a:pPr>
            <a:r>
              <a:t>Verlangen, Anhaften und Unwissenheit.</a:t>
            </a:r>
          </a:p>
        </p:txBody>
      </p:sp>
      <p:sp>
        <p:nvSpPr>
          <p:cNvPr id="15" name="Rounded Rectangle 14"/>
          <p:cNvSpPr/>
          <p:nvPr/>
        </p:nvSpPr>
        <p:spPr>
          <a:xfrm>
            <a:off x="640080" y="4023360"/>
            <a:ext cx="530352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59" y="422452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06240"/>
            <a:ext cx="475488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3 · Aufhebung</a:t>
            </a:r>
          </a:p>
        </p:txBody>
      </p:sp>
      <p:sp>
        <p:nvSpPr>
          <p:cNvPr id="18" name="TextBox 17"/>
          <p:cNvSpPr txBox="1"/>
          <p:nvPr/>
        </p:nvSpPr>
        <p:spPr>
          <a:xfrm>
            <a:off x="914400" y="4892040"/>
            <a:ext cx="4754880" cy="914399"/>
          </a:xfrm>
          <a:prstGeom prst="rect">
            <a:avLst/>
          </a:prstGeom>
          <a:noFill/>
        </p:spPr>
        <p:txBody>
          <a:bodyPr wrap="square" lIns="0" rIns="0" tIns="0" bIns="0">
            <a:spAutoFit/>
          </a:bodyPr>
          <a:lstStyle/>
          <a:p>
            <a:pPr>
              <a:spcAft>
                <a:spcPts val="1000"/>
              </a:spcAft>
              <a:defRPr sz="2000" b="0">
                <a:solidFill>
                  <a:srgbClr val="173238"/>
                </a:solidFill>
                <a:latin typeface="Aptos"/>
              </a:defRPr>
            </a:pPr>
            <a:r>
              <a:t>Befreiung von den Ursachen ist möglich.</a:t>
            </a:r>
          </a:p>
        </p:txBody>
      </p:sp>
      <p:sp>
        <p:nvSpPr>
          <p:cNvPr id="19" name="Rounded Rectangle 18"/>
          <p:cNvSpPr/>
          <p:nvPr/>
        </p:nvSpPr>
        <p:spPr>
          <a:xfrm>
            <a:off x="6217920" y="4023360"/>
            <a:ext cx="530352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422452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4206240"/>
            <a:ext cx="475488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4 · Der Weg</a:t>
            </a:r>
          </a:p>
        </p:txBody>
      </p:sp>
      <p:sp>
        <p:nvSpPr>
          <p:cNvPr id="22" name="TextBox 21"/>
          <p:cNvSpPr txBox="1"/>
          <p:nvPr/>
        </p:nvSpPr>
        <p:spPr>
          <a:xfrm>
            <a:off x="6492240" y="4892040"/>
            <a:ext cx="4754880" cy="914399"/>
          </a:xfrm>
          <a:prstGeom prst="rect">
            <a:avLst/>
          </a:prstGeom>
          <a:noFill/>
        </p:spPr>
        <p:txBody>
          <a:bodyPr wrap="square" lIns="0" rIns="0" tIns="0" bIns="0">
            <a:spAutoFit/>
          </a:bodyPr>
          <a:lstStyle/>
          <a:p>
            <a:pPr>
              <a:spcAft>
                <a:spcPts val="1000"/>
              </a:spcAft>
              <a:defRPr sz="2000" b="0">
                <a:solidFill>
                  <a:srgbClr val="173238"/>
                </a:solidFill>
                <a:latin typeface="Aptos"/>
              </a:defRPr>
            </a:pPr>
            <a:r>
              <a:t>Der edle achtfache Pfad führt zur Befreiung.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03 / WEISHEIT · ETHIK · GEISTIGE SCHULUNG</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Der edle achtfache Pfad</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04</a:t>
            </a:r>
          </a:p>
        </p:txBody>
      </p:sp>
      <p:sp>
        <p:nvSpPr>
          <p:cNvPr id="7" name="Oval 6"/>
          <p:cNvSpPr/>
          <p:nvPr/>
        </p:nvSpPr>
        <p:spPr>
          <a:xfrm>
            <a:off x="4754880" y="2423159"/>
            <a:ext cx="2651760" cy="2651760"/>
          </a:xfrm>
          <a:prstGeom prst="ellipse">
            <a:avLst/>
          </a:prstGeom>
          <a:solidFill>
            <a:srgbClr val="F5EFE3"/>
          </a:solidFill>
          <a:ln>
            <a:solidFill>
              <a:srgbClr val="C89C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6080760" y="3749039"/>
            <a:ext cx="1325880" cy="0"/>
          </a:xfrm>
          <a:prstGeom prst="line">
            <a:avLst/>
          </a:prstGeom>
          <a:ln w="38100">
            <a:solidFill>
              <a:srgbClr val="C89C5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80760" y="3749039"/>
            <a:ext cx="937538" cy="937539"/>
          </a:xfrm>
          <a:prstGeom prst="line">
            <a:avLst/>
          </a:prstGeom>
          <a:ln w="38100">
            <a:solidFill>
              <a:srgbClr val="C89C5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80760" y="3749039"/>
            <a:ext cx="0" cy="1325881"/>
          </a:xfrm>
          <a:prstGeom prst="line">
            <a:avLst/>
          </a:prstGeom>
          <a:ln w="38100">
            <a:solidFill>
              <a:srgbClr val="C89C5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5143221" y="3749039"/>
            <a:ext cx="937539" cy="937539"/>
          </a:xfrm>
          <a:prstGeom prst="line">
            <a:avLst/>
          </a:prstGeom>
          <a:ln w="38100">
            <a:solidFill>
              <a:srgbClr val="C89C5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754880" y="3749039"/>
            <a:ext cx="1325880" cy="0"/>
          </a:xfrm>
          <a:prstGeom prst="line">
            <a:avLst/>
          </a:prstGeom>
          <a:ln w="38100">
            <a:solidFill>
              <a:srgbClr val="C89C5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5143221" y="2811501"/>
            <a:ext cx="937539" cy="937538"/>
          </a:xfrm>
          <a:prstGeom prst="line">
            <a:avLst/>
          </a:prstGeom>
          <a:ln w="38100">
            <a:solidFill>
              <a:srgbClr val="C89C5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080760" y="2423159"/>
            <a:ext cx="0" cy="1325880"/>
          </a:xfrm>
          <a:prstGeom prst="line">
            <a:avLst/>
          </a:prstGeom>
          <a:ln w="38100">
            <a:solidFill>
              <a:srgbClr val="C89C5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080760" y="2811501"/>
            <a:ext cx="937538" cy="937538"/>
          </a:xfrm>
          <a:prstGeom prst="line">
            <a:avLst/>
          </a:prstGeom>
          <a:ln w="38100">
            <a:solidFill>
              <a:srgbClr val="C89C51"/>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934456" y="3602735"/>
            <a:ext cx="292608" cy="292608"/>
          </a:xfrm>
          <a:prstGeom prst="ellipse">
            <a:avLst/>
          </a:prstGeom>
          <a:solidFill>
            <a:srgbClr val="143D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103120"/>
            <a:ext cx="3291840" cy="566928"/>
          </a:xfrm>
          <a:prstGeom prst="rect">
            <a:avLst/>
          </a:prstGeom>
          <a:noFill/>
        </p:spPr>
        <p:txBody>
          <a:bodyPr wrap="square" lIns="0" rIns="0" tIns="0" bIns="0">
            <a:spAutoFit/>
          </a:bodyPr>
          <a:lstStyle/>
          <a:p>
            <a:pPr>
              <a:spcAft>
                <a:spcPts val="1000"/>
              </a:spcAft>
              <a:defRPr sz="2000" b="1">
                <a:solidFill>
                  <a:srgbClr val="143D43"/>
                </a:solidFill>
                <a:latin typeface="Aptos"/>
              </a:defRPr>
            </a:pPr>
            <a:r>
              <a:t>Rechte Sicht</a:t>
            </a:r>
          </a:p>
        </p:txBody>
      </p:sp>
      <p:sp>
        <p:nvSpPr>
          <p:cNvPr id="18" name="TextBox 17"/>
          <p:cNvSpPr txBox="1"/>
          <p:nvPr/>
        </p:nvSpPr>
        <p:spPr>
          <a:xfrm>
            <a:off x="731520" y="2834639"/>
            <a:ext cx="3291840" cy="566928"/>
          </a:xfrm>
          <a:prstGeom prst="rect">
            <a:avLst/>
          </a:prstGeom>
          <a:noFill/>
        </p:spPr>
        <p:txBody>
          <a:bodyPr wrap="square" lIns="0" rIns="0" tIns="0" bIns="0">
            <a:spAutoFit/>
          </a:bodyPr>
          <a:lstStyle/>
          <a:p>
            <a:pPr>
              <a:spcAft>
                <a:spcPts val="1000"/>
              </a:spcAft>
              <a:defRPr sz="2000" b="1">
                <a:solidFill>
                  <a:srgbClr val="143D43"/>
                </a:solidFill>
                <a:latin typeface="Aptos"/>
              </a:defRPr>
            </a:pPr>
            <a:r>
              <a:t>Rechte Absicht</a:t>
            </a:r>
          </a:p>
        </p:txBody>
      </p:sp>
      <p:sp>
        <p:nvSpPr>
          <p:cNvPr id="19" name="TextBox 18"/>
          <p:cNvSpPr txBox="1"/>
          <p:nvPr/>
        </p:nvSpPr>
        <p:spPr>
          <a:xfrm>
            <a:off x="731520" y="3566160"/>
            <a:ext cx="3291840" cy="566928"/>
          </a:xfrm>
          <a:prstGeom prst="rect">
            <a:avLst/>
          </a:prstGeom>
          <a:noFill/>
        </p:spPr>
        <p:txBody>
          <a:bodyPr wrap="square" lIns="0" rIns="0" tIns="0" bIns="0">
            <a:spAutoFit/>
          </a:bodyPr>
          <a:lstStyle/>
          <a:p>
            <a:pPr>
              <a:spcAft>
                <a:spcPts val="1000"/>
              </a:spcAft>
              <a:defRPr sz="2000" b="1">
                <a:solidFill>
                  <a:srgbClr val="143D43"/>
                </a:solidFill>
                <a:latin typeface="Aptos"/>
              </a:defRPr>
            </a:pPr>
            <a:r>
              <a:t>Rechte Rede</a:t>
            </a:r>
          </a:p>
        </p:txBody>
      </p:sp>
      <p:sp>
        <p:nvSpPr>
          <p:cNvPr id="20" name="TextBox 19"/>
          <p:cNvSpPr txBox="1"/>
          <p:nvPr/>
        </p:nvSpPr>
        <p:spPr>
          <a:xfrm>
            <a:off x="731520" y="4297680"/>
            <a:ext cx="3291840" cy="566928"/>
          </a:xfrm>
          <a:prstGeom prst="rect">
            <a:avLst/>
          </a:prstGeom>
          <a:noFill/>
        </p:spPr>
        <p:txBody>
          <a:bodyPr wrap="square" lIns="0" rIns="0" tIns="0" bIns="0">
            <a:spAutoFit/>
          </a:bodyPr>
          <a:lstStyle/>
          <a:p>
            <a:pPr>
              <a:spcAft>
                <a:spcPts val="1000"/>
              </a:spcAft>
              <a:defRPr sz="2000" b="1">
                <a:solidFill>
                  <a:srgbClr val="143D43"/>
                </a:solidFill>
                <a:latin typeface="Aptos"/>
              </a:defRPr>
            </a:pPr>
            <a:r>
              <a:t>Rechtes Handeln</a:t>
            </a:r>
          </a:p>
        </p:txBody>
      </p:sp>
      <p:sp>
        <p:nvSpPr>
          <p:cNvPr id="21" name="TextBox 20"/>
          <p:cNvSpPr txBox="1"/>
          <p:nvPr/>
        </p:nvSpPr>
        <p:spPr>
          <a:xfrm>
            <a:off x="8229600" y="2103120"/>
            <a:ext cx="3291840" cy="566928"/>
          </a:xfrm>
          <a:prstGeom prst="rect">
            <a:avLst/>
          </a:prstGeom>
          <a:noFill/>
        </p:spPr>
        <p:txBody>
          <a:bodyPr wrap="square" lIns="0" rIns="0" tIns="0" bIns="0">
            <a:spAutoFit/>
          </a:bodyPr>
          <a:lstStyle/>
          <a:p>
            <a:pPr>
              <a:spcAft>
                <a:spcPts val="1000"/>
              </a:spcAft>
              <a:defRPr sz="2000" b="1">
                <a:solidFill>
                  <a:srgbClr val="143D43"/>
                </a:solidFill>
                <a:latin typeface="Aptos"/>
              </a:defRPr>
            </a:pPr>
            <a:r>
              <a:t>Rechter Lebensunterhalt</a:t>
            </a:r>
          </a:p>
        </p:txBody>
      </p:sp>
      <p:sp>
        <p:nvSpPr>
          <p:cNvPr id="22" name="TextBox 21"/>
          <p:cNvSpPr txBox="1"/>
          <p:nvPr/>
        </p:nvSpPr>
        <p:spPr>
          <a:xfrm>
            <a:off x="8229600" y="2834639"/>
            <a:ext cx="3291840" cy="566928"/>
          </a:xfrm>
          <a:prstGeom prst="rect">
            <a:avLst/>
          </a:prstGeom>
          <a:noFill/>
        </p:spPr>
        <p:txBody>
          <a:bodyPr wrap="square" lIns="0" rIns="0" tIns="0" bIns="0">
            <a:spAutoFit/>
          </a:bodyPr>
          <a:lstStyle/>
          <a:p>
            <a:pPr>
              <a:spcAft>
                <a:spcPts val="1000"/>
              </a:spcAft>
              <a:defRPr sz="2000" b="1">
                <a:solidFill>
                  <a:srgbClr val="143D43"/>
                </a:solidFill>
                <a:latin typeface="Aptos"/>
              </a:defRPr>
            </a:pPr>
            <a:r>
              <a:t>Rechte Anstrengung</a:t>
            </a:r>
          </a:p>
        </p:txBody>
      </p:sp>
      <p:sp>
        <p:nvSpPr>
          <p:cNvPr id="23" name="TextBox 22"/>
          <p:cNvSpPr txBox="1"/>
          <p:nvPr/>
        </p:nvSpPr>
        <p:spPr>
          <a:xfrm>
            <a:off x="8229600" y="3566160"/>
            <a:ext cx="3291840" cy="566928"/>
          </a:xfrm>
          <a:prstGeom prst="rect">
            <a:avLst/>
          </a:prstGeom>
          <a:noFill/>
        </p:spPr>
        <p:txBody>
          <a:bodyPr wrap="square" lIns="0" rIns="0" tIns="0" bIns="0">
            <a:spAutoFit/>
          </a:bodyPr>
          <a:lstStyle/>
          <a:p>
            <a:pPr>
              <a:spcAft>
                <a:spcPts val="1000"/>
              </a:spcAft>
              <a:defRPr sz="2000" b="1">
                <a:solidFill>
                  <a:srgbClr val="143D43"/>
                </a:solidFill>
                <a:latin typeface="Aptos"/>
              </a:defRPr>
            </a:pPr>
            <a:r>
              <a:t>Rechte Achtsamkeit</a:t>
            </a:r>
          </a:p>
        </p:txBody>
      </p:sp>
      <p:sp>
        <p:nvSpPr>
          <p:cNvPr id="24" name="TextBox 23"/>
          <p:cNvSpPr txBox="1"/>
          <p:nvPr/>
        </p:nvSpPr>
        <p:spPr>
          <a:xfrm>
            <a:off x="8229600" y="4297680"/>
            <a:ext cx="3291840" cy="566928"/>
          </a:xfrm>
          <a:prstGeom prst="rect">
            <a:avLst/>
          </a:prstGeom>
          <a:noFill/>
        </p:spPr>
        <p:txBody>
          <a:bodyPr wrap="square" lIns="0" rIns="0" tIns="0" bIns="0">
            <a:spAutoFit/>
          </a:bodyPr>
          <a:lstStyle/>
          <a:p>
            <a:pPr>
              <a:spcAft>
                <a:spcPts val="1000"/>
              </a:spcAft>
              <a:defRPr sz="2000" b="1">
                <a:solidFill>
                  <a:srgbClr val="143D43"/>
                </a:solidFill>
                <a:latin typeface="Aptos"/>
              </a:defRPr>
            </a:pPr>
            <a:r>
              <a:t>Rechte Sammlung</a:t>
            </a:r>
          </a:p>
        </p:txBody>
      </p:sp>
      <p:sp>
        <p:nvSpPr>
          <p:cNvPr id="25" name="TextBox 24"/>
          <p:cNvSpPr txBox="1"/>
          <p:nvPr/>
        </p:nvSpPr>
        <p:spPr>
          <a:xfrm>
            <a:off x="2377440" y="5669280"/>
            <a:ext cx="8229600" cy="411480"/>
          </a:xfrm>
          <a:prstGeom prst="rect">
            <a:avLst/>
          </a:prstGeom>
          <a:noFill/>
        </p:spPr>
        <p:txBody>
          <a:bodyPr wrap="square" lIns="0" rIns="0" tIns="0" bIns="0">
            <a:spAutoFit/>
          </a:bodyPr>
          <a:lstStyle/>
          <a:p>
            <a:pPr>
              <a:spcAft>
                <a:spcPts val="1000"/>
              </a:spcAft>
              <a:defRPr sz="1800" b="0">
                <a:solidFill>
                  <a:srgbClr val="577477"/>
                </a:solidFill>
                <a:latin typeface="Aptos"/>
              </a:defRPr>
            </a:pPr>
            <a:r>
              <a:t>Acht verbundene Übungsbereiche – keine starre Reihenfolge.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04 / DREI DASEINSMERKMALE</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Alles verändert sich</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05</a:t>
            </a:r>
          </a:p>
        </p:txBody>
      </p:sp>
      <p:sp>
        <p:nvSpPr>
          <p:cNvPr id="7" name="Rounded Rectangle 6"/>
          <p:cNvSpPr/>
          <p:nvPr/>
        </p:nvSpPr>
        <p:spPr>
          <a:xfrm>
            <a:off x="640080" y="2103120"/>
            <a:ext cx="352044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Anicca</a:t>
            </a:r>
          </a:p>
        </p:txBody>
      </p:sp>
      <p:sp>
        <p:nvSpPr>
          <p:cNvPr id="10" name="TextBox 9"/>
          <p:cNvSpPr txBox="1"/>
          <p:nvPr/>
        </p:nvSpPr>
        <p:spPr>
          <a:xfrm>
            <a:off x="914400" y="2971800"/>
            <a:ext cx="297180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Unbeständigkeit</a:t>
            </a:r>
          </a:p>
          <a:p>
            <a:pPr>
              <a:spcAft>
                <a:spcPts val="1000"/>
              </a:spcAft>
              <a:defRPr sz="2000" b="0">
                <a:solidFill>
                  <a:srgbClr val="173238"/>
                </a:solidFill>
                <a:latin typeface="Aptos"/>
              </a:defRPr>
            </a:pPr>
            <a:r>
              <a:t>Bedingte Dinge verändern sich.</a:t>
            </a:r>
          </a:p>
        </p:txBody>
      </p:sp>
      <p:sp>
        <p:nvSpPr>
          <p:cNvPr id="11" name="Rounded Rectangle 10"/>
          <p:cNvSpPr/>
          <p:nvPr/>
        </p:nvSpPr>
        <p:spPr>
          <a:xfrm>
            <a:off x="4343400" y="2103120"/>
            <a:ext cx="352044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Dukkha</a:t>
            </a:r>
          </a:p>
        </p:txBody>
      </p:sp>
      <p:sp>
        <p:nvSpPr>
          <p:cNvPr id="14" name="TextBox 13"/>
          <p:cNvSpPr txBox="1"/>
          <p:nvPr/>
        </p:nvSpPr>
        <p:spPr>
          <a:xfrm>
            <a:off x="4617720" y="2971800"/>
            <a:ext cx="297180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Unzulänglichkeit</a:t>
            </a:r>
          </a:p>
          <a:p>
            <a:pPr>
              <a:spcAft>
                <a:spcPts val="1000"/>
              </a:spcAft>
              <a:defRPr sz="2000" b="0">
                <a:solidFill>
                  <a:srgbClr val="173238"/>
                </a:solidFill>
                <a:latin typeface="Aptos"/>
              </a:defRPr>
            </a:pPr>
            <a:r>
              <a:t>Kein dauerhaft sicherer Halt.</a:t>
            </a:r>
          </a:p>
        </p:txBody>
      </p:sp>
      <p:sp>
        <p:nvSpPr>
          <p:cNvPr id="15" name="Rounded Rectangle 14"/>
          <p:cNvSpPr/>
          <p:nvPr/>
        </p:nvSpPr>
        <p:spPr>
          <a:xfrm>
            <a:off x="8046720" y="2103120"/>
            <a:ext cx="352044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Anatta</a:t>
            </a:r>
          </a:p>
        </p:txBody>
      </p:sp>
      <p:sp>
        <p:nvSpPr>
          <p:cNvPr id="18" name="TextBox 17"/>
          <p:cNvSpPr txBox="1"/>
          <p:nvPr/>
        </p:nvSpPr>
        <p:spPr>
          <a:xfrm>
            <a:off x="8321040" y="2971800"/>
            <a:ext cx="297180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Nicht-Selbst</a:t>
            </a:r>
          </a:p>
          <a:p>
            <a:pPr>
              <a:spcAft>
                <a:spcPts val="1000"/>
              </a:spcAft>
              <a:defRPr sz="2000" b="0">
                <a:solidFill>
                  <a:srgbClr val="173238"/>
                </a:solidFill>
                <a:latin typeface="Aptos"/>
              </a:defRPr>
            </a:pPr>
            <a:r>
              <a:t>Kein ewiges, unabhängiges Ich.</a:t>
            </a:r>
          </a:p>
        </p:txBody>
      </p:sp>
      <p:sp>
        <p:nvSpPr>
          <p:cNvPr id="19" name="TextBox 18"/>
          <p:cNvSpPr txBox="1"/>
          <p:nvPr/>
        </p:nvSpPr>
        <p:spPr>
          <a:xfrm>
            <a:off x="731520" y="5760720"/>
            <a:ext cx="10698480" cy="365760"/>
          </a:xfrm>
          <a:prstGeom prst="rect">
            <a:avLst/>
          </a:prstGeom>
          <a:noFill/>
        </p:spPr>
        <p:txBody>
          <a:bodyPr wrap="square" lIns="0" rIns="0" tIns="0" bIns="0">
            <a:spAutoFit/>
          </a:bodyPr>
          <a:lstStyle/>
          <a:p>
            <a:pPr>
              <a:spcAft>
                <a:spcPts val="1000"/>
              </a:spcAft>
              <a:defRPr sz="1600" b="0">
                <a:solidFill>
                  <a:srgbClr val="577477"/>
                </a:solidFill>
                <a:latin typeface="Aptos"/>
              </a:defRPr>
            </a:pPr>
            <a:r>
              <a:t>Bedingtes Entstehen: Erfahrungen entstehen in Abhängigkeit von Ursachen und Bedingungen.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05 / HANDELN &amp; KONTINUITÄT</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Karma und Wiedergeburt</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06</a:t>
            </a:r>
          </a:p>
        </p:txBody>
      </p:sp>
      <p:sp>
        <p:nvSpPr>
          <p:cNvPr id="7" name="Rounded Rectangle 6"/>
          <p:cNvSpPr/>
          <p:nvPr/>
        </p:nvSpPr>
        <p:spPr>
          <a:xfrm>
            <a:off x="640080" y="2103120"/>
            <a:ext cx="530352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86000"/>
            <a:ext cx="475488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Karma</a:t>
            </a:r>
          </a:p>
        </p:txBody>
      </p:sp>
      <p:sp>
        <p:nvSpPr>
          <p:cNvPr id="10" name="TextBox 9"/>
          <p:cNvSpPr txBox="1"/>
          <p:nvPr/>
        </p:nvSpPr>
        <p:spPr>
          <a:xfrm>
            <a:off x="914400" y="2971800"/>
            <a:ext cx="475488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Absichtsvolles Handeln</a:t>
            </a:r>
          </a:p>
          <a:p>
            <a:pPr>
              <a:spcAft>
                <a:spcPts val="1000"/>
              </a:spcAft>
              <a:defRPr sz="2000" b="0">
                <a:solidFill>
                  <a:srgbClr val="173238"/>
                </a:solidFill>
                <a:latin typeface="Aptos"/>
              </a:defRPr>
            </a:pPr>
            <a:r>
              <a:t>durch Körper, Rede und Geist.</a:t>
            </a:r>
          </a:p>
          <a:p>
            <a:pPr>
              <a:spcAft>
                <a:spcPts val="1000"/>
              </a:spcAft>
              <a:defRPr sz="2000" b="0">
                <a:solidFill>
                  <a:srgbClr val="173238"/>
                </a:solidFill>
                <a:latin typeface="Aptos"/>
              </a:defRPr>
            </a:pPr>
            <a:r>
              <a:t>Kein unveränderliches Schicksal.</a:t>
            </a:r>
          </a:p>
        </p:txBody>
      </p:sp>
      <p:sp>
        <p:nvSpPr>
          <p:cNvPr id="11" name="Rounded Rectangle 10"/>
          <p:cNvSpPr/>
          <p:nvPr/>
        </p:nvSpPr>
        <p:spPr>
          <a:xfrm>
            <a:off x="6217920" y="2103120"/>
            <a:ext cx="530352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286000"/>
            <a:ext cx="475488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Samsara</a:t>
            </a:r>
          </a:p>
        </p:txBody>
      </p:sp>
      <p:sp>
        <p:nvSpPr>
          <p:cNvPr id="14" name="TextBox 13"/>
          <p:cNvSpPr txBox="1"/>
          <p:nvPr/>
        </p:nvSpPr>
        <p:spPr>
          <a:xfrm>
            <a:off x="6492240" y="2971800"/>
            <a:ext cx="475488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Kreislauf von Geburt und Wiedergeburt.</a:t>
            </a:r>
          </a:p>
          <a:p>
            <a:pPr>
              <a:spcAft>
                <a:spcPts val="1000"/>
              </a:spcAft>
              <a:defRPr sz="2000" b="0">
                <a:solidFill>
                  <a:srgbClr val="173238"/>
                </a:solidFill>
                <a:latin typeface="Aptos"/>
              </a:defRPr>
            </a:pPr>
            <a:r>
              <a:t>Kontinuität ohne eine ewige Seele.</a:t>
            </a:r>
          </a:p>
        </p:txBody>
      </p:sp>
      <p:sp>
        <p:nvSpPr>
          <p:cNvPr id="15" name="TextBox 14"/>
          <p:cNvSpPr txBox="1"/>
          <p:nvPr/>
        </p:nvSpPr>
        <p:spPr>
          <a:xfrm>
            <a:off x="731520" y="5760720"/>
            <a:ext cx="10698480" cy="320040"/>
          </a:xfrm>
          <a:prstGeom prst="rect">
            <a:avLst/>
          </a:prstGeom>
          <a:noFill/>
        </p:spPr>
        <p:txBody>
          <a:bodyPr wrap="square" lIns="0" rIns="0" tIns="0" bIns="0">
            <a:spAutoFit/>
          </a:bodyPr>
          <a:lstStyle/>
          <a:p>
            <a:pPr>
              <a:spcAft>
                <a:spcPts val="1000"/>
              </a:spcAft>
              <a:defRPr sz="1600" b="0">
                <a:solidFill>
                  <a:srgbClr val="577477"/>
                </a:solidFill>
                <a:latin typeface="Aptos"/>
              </a:defRPr>
            </a:pPr>
            <a:r>
              <a:t>Karma rechtfertigt keine Schuldzuweisung an Menschen, die leiden.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3D4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06 / DAS ZIEL</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F5EFE3"/>
                </a:solidFill>
                <a:latin typeface="Aptos"/>
              </a:defRPr>
            </a:pPr>
            <a:r>
              <a:t>Nirvana: Befreiung vom Anhaften</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07</a:t>
            </a:r>
          </a:p>
        </p:txBody>
      </p:sp>
      <p:sp>
        <p:nvSpPr>
          <p:cNvPr id="7" name="Oval 6"/>
          <p:cNvSpPr/>
          <p:nvPr/>
        </p:nvSpPr>
        <p:spPr>
          <a:xfrm>
            <a:off x="731520" y="2286000"/>
            <a:ext cx="2743200" cy="2743200"/>
          </a:xfrm>
          <a:prstGeom prst="ellipse">
            <a:avLst/>
          </a:prstGeom>
          <a:solidFill>
            <a:srgbClr val="E8DF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46120"/>
            <a:ext cx="2468880" cy="548640"/>
          </a:xfrm>
          <a:prstGeom prst="rect">
            <a:avLst/>
          </a:prstGeom>
          <a:noFill/>
        </p:spPr>
        <p:txBody>
          <a:bodyPr wrap="square" lIns="0" rIns="0" tIns="0" bIns="0">
            <a:spAutoFit/>
          </a:bodyPr>
          <a:lstStyle/>
          <a:p>
            <a:pPr>
              <a:spcAft>
                <a:spcPts val="1000"/>
              </a:spcAft>
              <a:defRPr sz="2200" b="1">
                <a:solidFill>
                  <a:srgbClr val="143D43"/>
                </a:solidFill>
                <a:latin typeface="Aptos"/>
              </a:defRPr>
            </a:pPr>
            <a:r>
              <a:t>Gier</a:t>
            </a:r>
          </a:p>
        </p:txBody>
      </p:sp>
      <p:sp>
        <p:nvSpPr>
          <p:cNvPr id="9" name="TextBox 8"/>
          <p:cNvSpPr txBox="1"/>
          <p:nvPr/>
        </p:nvSpPr>
        <p:spPr>
          <a:xfrm>
            <a:off x="868680" y="3986783"/>
            <a:ext cx="2468880" cy="548640"/>
          </a:xfrm>
          <a:prstGeom prst="rect">
            <a:avLst/>
          </a:prstGeom>
          <a:noFill/>
        </p:spPr>
        <p:txBody>
          <a:bodyPr wrap="square" lIns="0" rIns="0" tIns="0" bIns="0">
            <a:spAutoFit/>
          </a:bodyPr>
          <a:lstStyle/>
          <a:p>
            <a:pPr>
              <a:spcAft>
                <a:spcPts val="1000"/>
              </a:spcAft>
              <a:defRPr sz="1300" b="0">
                <a:solidFill>
                  <a:srgbClr val="143D43"/>
                </a:solidFill>
                <a:latin typeface="Aptos"/>
              </a:defRPr>
            </a:pPr>
            <a:r>
              <a:t>Festhalten</a:t>
            </a:r>
          </a:p>
        </p:txBody>
      </p:sp>
      <p:sp>
        <p:nvSpPr>
          <p:cNvPr id="10" name="Oval 9"/>
          <p:cNvSpPr/>
          <p:nvPr/>
        </p:nvSpPr>
        <p:spPr>
          <a:xfrm>
            <a:off x="4389120" y="2286000"/>
            <a:ext cx="2743200" cy="2743200"/>
          </a:xfrm>
          <a:prstGeom prst="ellipse">
            <a:avLst/>
          </a:prstGeom>
          <a:solidFill>
            <a:srgbClr val="E8DF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3246120"/>
            <a:ext cx="2468880" cy="548640"/>
          </a:xfrm>
          <a:prstGeom prst="rect">
            <a:avLst/>
          </a:prstGeom>
          <a:noFill/>
        </p:spPr>
        <p:txBody>
          <a:bodyPr wrap="square" lIns="0" rIns="0" tIns="0" bIns="0">
            <a:spAutoFit/>
          </a:bodyPr>
          <a:lstStyle/>
          <a:p>
            <a:pPr>
              <a:spcAft>
                <a:spcPts val="1000"/>
              </a:spcAft>
              <a:defRPr sz="2200" b="1">
                <a:solidFill>
                  <a:srgbClr val="143D43"/>
                </a:solidFill>
                <a:latin typeface="Aptos"/>
              </a:defRPr>
            </a:pPr>
            <a:r>
              <a:t>Hass</a:t>
            </a:r>
          </a:p>
        </p:txBody>
      </p:sp>
      <p:sp>
        <p:nvSpPr>
          <p:cNvPr id="12" name="TextBox 11"/>
          <p:cNvSpPr txBox="1"/>
          <p:nvPr/>
        </p:nvSpPr>
        <p:spPr>
          <a:xfrm>
            <a:off x="4526280" y="3986783"/>
            <a:ext cx="2468880" cy="548640"/>
          </a:xfrm>
          <a:prstGeom prst="rect">
            <a:avLst/>
          </a:prstGeom>
          <a:noFill/>
        </p:spPr>
        <p:txBody>
          <a:bodyPr wrap="square" lIns="0" rIns="0" tIns="0" bIns="0">
            <a:spAutoFit/>
          </a:bodyPr>
          <a:lstStyle/>
          <a:p>
            <a:pPr>
              <a:spcAft>
                <a:spcPts val="1000"/>
              </a:spcAft>
              <a:defRPr sz="1300" b="0">
                <a:solidFill>
                  <a:srgbClr val="143D43"/>
                </a:solidFill>
                <a:latin typeface="Aptos"/>
              </a:defRPr>
            </a:pPr>
            <a:r>
              <a:t>Abwehr</a:t>
            </a:r>
          </a:p>
        </p:txBody>
      </p:sp>
      <p:sp>
        <p:nvSpPr>
          <p:cNvPr id="13" name="Oval 12"/>
          <p:cNvSpPr/>
          <p:nvPr/>
        </p:nvSpPr>
        <p:spPr>
          <a:xfrm>
            <a:off x="8046720" y="2286000"/>
            <a:ext cx="2743200" cy="2743200"/>
          </a:xfrm>
          <a:prstGeom prst="ellipse">
            <a:avLst/>
          </a:prstGeom>
          <a:solidFill>
            <a:srgbClr val="E8DF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3246120"/>
            <a:ext cx="2468880" cy="548640"/>
          </a:xfrm>
          <a:prstGeom prst="rect">
            <a:avLst/>
          </a:prstGeom>
          <a:noFill/>
        </p:spPr>
        <p:txBody>
          <a:bodyPr wrap="square" lIns="0" rIns="0" tIns="0" bIns="0">
            <a:spAutoFit/>
          </a:bodyPr>
          <a:lstStyle/>
          <a:p>
            <a:pPr>
              <a:spcAft>
                <a:spcPts val="1000"/>
              </a:spcAft>
              <a:defRPr sz="2200" b="1">
                <a:solidFill>
                  <a:srgbClr val="143D43"/>
                </a:solidFill>
                <a:latin typeface="Aptos"/>
              </a:defRPr>
            </a:pPr>
            <a:r>
              <a:t>Verblendung</a:t>
            </a:r>
          </a:p>
        </p:txBody>
      </p:sp>
      <p:sp>
        <p:nvSpPr>
          <p:cNvPr id="15" name="TextBox 14"/>
          <p:cNvSpPr txBox="1"/>
          <p:nvPr/>
        </p:nvSpPr>
        <p:spPr>
          <a:xfrm>
            <a:off x="8183880" y="3986783"/>
            <a:ext cx="2468880" cy="548640"/>
          </a:xfrm>
          <a:prstGeom prst="rect">
            <a:avLst/>
          </a:prstGeom>
          <a:noFill/>
        </p:spPr>
        <p:txBody>
          <a:bodyPr wrap="square" lIns="0" rIns="0" tIns="0" bIns="0">
            <a:spAutoFit/>
          </a:bodyPr>
          <a:lstStyle/>
          <a:p>
            <a:pPr>
              <a:spcAft>
                <a:spcPts val="1000"/>
              </a:spcAft>
              <a:defRPr sz="1300" b="0">
                <a:solidFill>
                  <a:srgbClr val="143D43"/>
                </a:solidFill>
                <a:latin typeface="Aptos"/>
              </a:defRPr>
            </a:pPr>
            <a:r>
              <a:t>Unwissenheit</a:t>
            </a:r>
          </a:p>
        </p:txBody>
      </p:sp>
      <p:sp>
        <p:nvSpPr>
          <p:cNvPr id="16" name="TextBox 15"/>
          <p:cNvSpPr txBox="1"/>
          <p:nvPr/>
        </p:nvSpPr>
        <p:spPr>
          <a:xfrm>
            <a:off x="777240" y="5532120"/>
            <a:ext cx="10698480" cy="640080"/>
          </a:xfrm>
          <a:prstGeom prst="rect">
            <a:avLst/>
          </a:prstGeom>
          <a:noFill/>
        </p:spPr>
        <p:txBody>
          <a:bodyPr wrap="square" lIns="0" rIns="0" tIns="0" bIns="0">
            <a:spAutoFit/>
          </a:bodyPr>
          <a:lstStyle/>
          <a:p>
            <a:pPr>
              <a:spcAft>
                <a:spcPts val="1000"/>
              </a:spcAft>
              <a:defRPr sz="2300" b="0">
                <a:solidFill>
                  <a:srgbClr val="F5EFE3"/>
                </a:solidFill>
                <a:latin typeface="Aptos"/>
              </a:defRPr>
            </a:pPr>
            <a:r>
              <a:t>Das „Erlöschen“ dieser Ursachen des Leidens – mehr als Entspannung.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07 / PRAXIS &amp; FESTE</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Mehr als Meditation</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08</a:t>
            </a:r>
          </a:p>
        </p:txBody>
      </p:sp>
      <p:sp>
        <p:nvSpPr>
          <p:cNvPr id="7" name="Rounded Rectangle 6"/>
          <p:cNvSpPr/>
          <p:nvPr/>
        </p:nvSpPr>
        <p:spPr>
          <a:xfrm>
            <a:off x="640080" y="2103120"/>
            <a:ext cx="6766560" cy="374903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86000"/>
            <a:ext cx="621792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Religion im Alltag</a:t>
            </a:r>
          </a:p>
        </p:txBody>
      </p:sp>
      <p:sp>
        <p:nvSpPr>
          <p:cNvPr id="10" name="TextBox 9"/>
          <p:cNvSpPr txBox="1"/>
          <p:nvPr/>
        </p:nvSpPr>
        <p:spPr>
          <a:xfrm>
            <a:off x="914400" y="2971800"/>
            <a:ext cx="6217920" cy="2788920"/>
          </a:xfrm>
          <a:prstGeom prst="rect">
            <a:avLst/>
          </a:prstGeom>
          <a:noFill/>
        </p:spPr>
        <p:txBody>
          <a:bodyPr wrap="square" lIns="0" rIns="0" tIns="0" bIns="0">
            <a:spAutoFit/>
          </a:bodyPr>
          <a:lstStyle/>
          <a:p>
            <a:pPr>
              <a:spcAft>
                <a:spcPts val="1000"/>
              </a:spcAft>
              <a:defRPr sz="2000" b="0">
                <a:solidFill>
                  <a:srgbClr val="173238"/>
                </a:solidFill>
                <a:latin typeface="Aptos"/>
              </a:defRPr>
            </a:pPr>
            <a:r>
              <a:t>Meditation: Sammlung und Einsicht</a:t>
            </a:r>
          </a:p>
          <a:p>
            <a:pPr>
              <a:spcAft>
                <a:spcPts val="1000"/>
              </a:spcAft>
              <a:defRPr sz="2000" b="0">
                <a:solidFill>
                  <a:srgbClr val="173238"/>
                </a:solidFill>
                <a:latin typeface="Aptos"/>
              </a:defRPr>
            </a:pPr>
            <a:r>
              <a:t>Mitgefühl und ethische Übung</a:t>
            </a:r>
          </a:p>
          <a:p>
            <a:pPr>
              <a:spcAft>
                <a:spcPts val="1000"/>
              </a:spcAft>
              <a:defRPr sz="2000" b="0">
                <a:solidFill>
                  <a:srgbClr val="173238"/>
                </a:solidFill>
                <a:latin typeface="Aptos"/>
              </a:defRPr>
            </a:pPr>
            <a:r>
              <a:t>Rezitation, Tempelbesuche, Opfergaben</a:t>
            </a:r>
          </a:p>
          <a:p>
            <a:pPr>
              <a:spcAft>
                <a:spcPts val="1000"/>
              </a:spcAft>
              <a:defRPr sz="2000" b="0">
                <a:solidFill>
                  <a:srgbClr val="173238"/>
                </a:solidFill>
                <a:latin typeface="Aptos"/>
              </a:defRPr>
            </a:pPr>
            <a:r>
              <a:t>Vesak: Erinnerung an das Leben des Buddha</a:t>
            </a:r>
          </a:p>
        </p:txBody>
      </p:sp>
      <p:pic>
        <p:nvPicPr>
          <p:cNvPr id="11" name="Picture 10" descr="buddhism_illustration.png"/>
          <p:cNvPicPr>
            <a:picLocks noChangeAspect="1"/>
          </p:cNvPicPr>
          <p:nvPr/>
        </p:nvPicPr>
        <p:blipFill>
          <a:blip r:embed="rId3"/>
          <a:srcRect l="50000"/>
          <a:stretch>
            <a:fillRect/>
          </a:stretch>
        </p:blipFill>
        <p:spPr>
          <a:xfrm>
            <a:off x="7818120" y="2103120"/>
            <a:ext cx="3657600" cy="3474720"/>
          </a:xfrm>
          <a:prstGeom prst="rect">
            <a:avLst/>
          </a:prstGeom>
        </p:spPr>
      </p:pic>
      <p:sp>
        <p:nvSpPr>
          <p:cNvPr id="12" name="TextBox 11"/>
          <p:cNvSpPr txBox="1"/>
          <p:nvPr/>
        </p:nvSpPr>
        <p:spPr>
          <a:xfrm>
            <a:off x="7818120" y="5715000"/>
            <a:ext cx="3657600" cy="274320"/>
          </a:xfrm>
          <a:prstGeom prst="rect">
            <a:avLst/>
          </a:prstGeom>
          <a:noFill/>
        </p:spPr>
        <p:txBody>
          <a:bodyPr wrap="square" lIns="0" rIns="0" tIns="0" bIns="0">
            <a:spAutoFit/>
          </a:bodyPr>
          <a:lstStyle/>
          <a:p>
            <a:pPr>
              <a:spcAft>
                <a:spcPts val="1000"/>
              </a:spcAft>
              <a:defRPr sz="1100" b="0">
                <a:solidFill>
                  <a:srgbClr val="577477"/>
                </a:solidFill>
                <a:latin typeface="Aptos"/>
              </a:defRPr>
            </a:pPr>
            <a:r>
              <a:t>Stupa · KI-Illustration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08 / ZUGEHÖRIGKEIT &amp; GEMEINSCHAFT</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Die drei Juwelen</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09</a:t>
            </a:r>
          </a:p>
        </p:txBody>
      </p:sp>
      <p:sp>
        <p:nvSpPr>
          <p:cNvPr id="7" name="Rounded Rectangle 6"/>
          <p:cNvSpPr/>
          <p:nvPr/>
        </p:nvSpPr>
        <p:spPr>
          <a:xfrm>
            <a:off x="640080" y="2103120"/>
            <a:ext cx="35204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Buddha</a:t>
            </a:r>
          </a:p>
        </p:txBody>
      </p:sp>
      <p:sp>
        <p:nvSpPr>
          <p:cNvPr id="10" name="TextBox 9"/>
          <p:cNvSpPr txBox="1"/>
          <p:nvPr/>
        </p:nvSpPr>
        <p:spPr>
          <a:xfrm>
            <a:off x="914400" y="2971800"/>
            <a:ext cx="2971800" cy="2240280"/>
          </a:xfrm>
          <a:prstGeom prst="rect">
            <a:avLst/>
          </a:prstGeom>
          <a:noFill/>
        </p:spPr>
        <p:txBody>
          <a:bodyPr wrap="square" lIns="0" rIns="0" tIns="0" bIns="0">
            <a:spAutoFit/>
          </a:bodyPr>
          <a:lstStyle/>
          <a:p>
            <a:pPr>
              <a:spcAft>
                <a:spcPts val="1000"/>
              </a:spcAft>
              <a:defRPr sz="2000" b="0">
                <a:solidFill>
                  <a:srgbClr val="173238"/>
                </a:solidFill>
                <a:latin typeface="Aptos"/>
              </a:defRPr>
            </a:pPr>
            <a:r>
              <a:t>Der Erwachte</a:t>
            </a:r>
          </a:p>
          <a:p>
            <a:pPr>
              <a:spcAft>
                <a:spcPts val="1000"/>
              </a:spcAft>
              <a:defRPr sz="2000" b="0">
                <a:solidFill>
                  <a:srgbClr val="173238"/>
                </a:solidFill>
                <a:latin typeface="Aptos"/>
              </a:defRPr>
            </a:pPr>
            <a:r>
              <a:t>Vorbild und Lehrer</a:t>
            </a:r>
          </a:p>
        </p:txBody>
      </p:sp>
      <p:sp>
        <p:nvSpPr>
          <p:cNvPr id="11" name="Rounded Rectangle 10"/>
          <p:cNvSpPr/>
          <p:nvPr/>
        </p:nvSpPr>
        <p:spPr>
          <a:xfrm>
            <a:off x="4343400" y="2103120"/>
            <a:ext cx="35204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Dharma</a:t>
            </a:r>
          </a:p>
        </p:txBody>
      </p:sp>
      <p:sp>
        <p:nvSpPr>
          <p:cNvPr id="14" name="TextBox 13"/>
          <p:cNvSpPr txBox="1"/>
          <p:nvPr/>
        </p:nvSpPr>
        <p:spPr>
          <a:xfrm>
            <a:off x="4617720" y="2971800"/>
            <a:ext cx="2971800" cy="2240280"/>
          </a:xfrm>
          <a:prstGeom prst="rect">
            <a:avLst/>
          </a:prstGeom>
          <a:noFill/>
        </p:spPr>
        <p:txBody>
          <a:bodyPr wrap="square" lIns="0" rIns="0" tIns="0" bIns="0">
            <a:spAutoFit/>
          </a:bodyPr>
          <a:lstStyle/>
          <a:p>
            <a:pPr>
              <a:spcAft>
                <a:spcPts val="1000"/>
              </a:spcAft>
              <a:defRPr sz="2000" b="0">
                <a:solidFill>
                  <a:srgbClr val="173238"/>
                </a:solidFill>
                <a:latin typeface="Aptos"/>
              </a:defRPr>
            </a:pPr>
            <a:r>
              <a:t>Die Lehre</a:t>
            </a:r>
          </a:p>
          <a:p>
            <a:pPr>
              <a:spcAft>
                <a:spcPts val="1000"/>
              </a:spcAft>
              <a:defRPr sz="2000" b="0">
                <a:solidFill>
                  <a:srgbClr val="173238"/>
                </a:solidFill>
                <a:latin typeface="Aptos"/>
              </a:defRPr>
            </a:pPr>
            <a:r>
              <a:t>und der Weg</a:t>
            </a:r>
          </a:p>
        </p:txBody>
      </p:sp>
      <p:sp>
        <p:nvSpPr>
          <p:cNvPr id="15" name="Rounded Rectangle 14"/>
          <p:cNvSpPr/>
          <p:nvPr/>
        </p:nvSpPr>
        <p:spPr>
          <a:xfrm>
            <a:off x="8046720" y="2103120"/>
            <a:ext cx="35204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Sangha</a:t>
            </a:r>
          </a:p>
        </p:txBody>
      </p:sp>
      <p:sp>
        <p:nvSpPr>
          <p:cNvPr id="18" name="TextBox 17"/>
          <p:cNvSpPr txBox="1"/>
          <p:nvPr/>
        </p:nvSpPr>
        <p:spPr>
          <a:xfrm>
            <a:off x="8321040" y="2971800"/>
            <a:ext cx="2971800" cy="2240280"/>
          </a:xfrm>
          <a:prstGeom prst="rect">
            <a:avLst/>
          </a:prstGeom>
          <a:noFill/>
        </p:spPr>
        <p:txBody>
          <a:bodyPr wrap="square" lIns="0" rIns="0" tIns="0" bIns="0">
            <a:spAutoFit/>
          </a:bodyPr>
          <a:lstStyle/>
          <a:p>
            <a:pPr>
              <a:spcAft>
                <a:spcPts val="1000"/>
              </a:spcAft>
              <a:defRPr sz="2000" b="0">
                <a:solidFill>
                  <a:srgbClr val="173238"/>
                </a:solidFill>
                <a:latin typeface="Aptos"/>
              </a:defRPr>
            </a:pPr>
            <a:r>
              <a:t>Die Gemeinschaft</a:t>
            </a:r>
          </a:p>
          <a:p>
            <a:pPr>
              <a:spcAft>
                <a:spcPts val="1000"/>
              </a:spcAft>
              <a:defRPr sz="2000" b="0">
                <a:solidFill>
                  <a:srgbClr val="173238"/>
                </a:solidFill>
                <a:latin typeface="Aptos"/>
              </a:defRPr>
            </a:pPr>
            <a:r>
              <a:t>Ordinierte und Praktizierende</a:t>
            </a:r>
          </a:p>
        </p:txBody>
      </p:sp>
      <p:sp>
        <p:nvSpPr>
          <p:cNvPr id="19" name="TextBox 18"/>
          <p:cNvSpPr txBox="1"/>
          <p:nvPr/>
        </p:nvSpPr>
        <p:spPr>
          <a:xfrm>
            <a:off x="731520" y="5623560"/>
            <a:ext cx="10698480" cy="548640"/>
          </a:xfrm>
          <a:prstGeom prst="rect">
            <a:avLst/>
          </a:prstGeom>
          <a:noFill/>
        </p:spPr>
        <p:txBody>
          <a:bodyPr wrap="square" lIns="0" rIns="0" tIns="0" bIns="0">
            <a:spAutoFit/>
          </a:bodyPr>
          <a:lstStyle/>
          <a:p>
            <a:pPr>
              <a:spcAft>
                <a:spcPts val="1000"/>
              </a:spcAft>
              <a:defRPr sz="1800" b="0">
                <a:solidFill>
                  <a:srgbClr val="577477"/>
                </a:solidFill>
                <a:latin typeface="Aptos"/>
              </a:defRPr>
            </a:pPr>
            <a:r>
              <a:t>Mönche, Nonnen und Laien unterstützen sich – Rollen unterscheiden sich je nach Tradition.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09 / THERAVADA · MAHAYANA · VAJRAYANA</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Eine Religion – viele Traditionen</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10</a:t>
            </a:r>
          </a:p>
        </p:txBody>
      </p:sp>
      <p:sp>
        <p:nvSpPr>
          <p:cNvPr id="7" name="Rounded Rectangle 6"/>
          <p:cNvSpPr/>
          <p:nvPr/>
        </p:nvSpPr>
        <p:spPr>
          <a:xfrm>
            <a:off x="640080" y="2103120"/>
            <a:ext cx="352044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Theravada</a:t>
            </a:r>
          </a:p>
        </p:txBody>
      </p:sp>
      <p:sp>
        <p:nvSpPr>
          <p:cNvPr id="10" name="TextBox 9"/>
          <p:cNvSpPr txBox="1"/>
          <p:nvPr/>
        </p:nvSpPr>
        <p:spPr>
          <a:xfrm>
            <a:off x="914400" y="2971800"/>
            <a:ext cx="297180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Pali-Kanon; Arhat-Ideal</a:t>
            </a:r>
          </a:p>
          <a:p>
            <a:pPr>
              <a:spcAft>
                <a:spcPts val="1000"/>
              </a:spcAft>
              <a:defRPr sz="2000" b="0">
                <a:solidFill>
                  <a:srgbClr val="173238"/>
                </a:solidFill>
                <a:latin typeface="Aptos"/>
              </a:defRPr>
            </a:pPr>
            <a:r>
              <a:t>Sri Lanka, Thailand, Myanmar</a:t>
            </a:r>
          </a:p>
        </p:txBody>
      </p:sp>
      <p:sp>
        <p:nvSpPr>
          <p:cNvPr id="11" name="Rounded Rectangle 10"/>
          <p:cNvSpPr/>
          <p:nvPr/>
        </p:nvSpPr>
        <p:spPr>
          <a:xfrm>
            <a:off x="4343400" y="2103120"/>
            <a:ext cx="352044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Mahayana</a:t>
            </a:r>
          </a:p>
        </p:txBody>
      </p:sp>
      <p:sp>
        <p:nvSpPr>
          <p:cNvPr id="14" name="TextBox 13"/>
          <p:cNvSpPr txBox="1"/>
          <p:nvPr/>
        </p:nvSpPr>
        <p:spPr>
          <a:xfrm>
            <a:off x="4617720" y="2971800"/>
            <a:ext cx="297180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Bodhisattva-Ideal</a:t>
            </a:r>
          </a:p>
          <a:p>
            <a:pPr>
              <a:spcAft>
                <a:spcPts val="1000"/>
              </a:spcAft>
              <a:defRPr sz="2000" b="0">
                <a:solidFill>
                  <a:srgbClr val="173238"/>
                </a:solidFill>
                <a:latin typeface="Aptos"/>
              </a:defRPr>
            </a:pPr>
            <a:r>
              <a:t>Ostasien; z. B. Zen</a:t>
            </a:r>
          </a:p>
        </p:txBody>
      </p:sp>
      <p:sp>
        <p:nvSpPr>
          <p:cNvPr id="15" name="Rounded Rectangle 14"/>
          <p:cNvSpPr/>
          <p:nvPr/>
        </p:nvSpPr>
        <p:spPr>
          <a:xfrm>
            <a:off x="8046720" y="2103120"/>
            <a:ext cx="352044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286000"/>
            <a:ext cx="297180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Vajrayana</a:t>
            </a:r>
          </a:p>
        </p:txBody>
      </p:sp>
      <p:sp>
        <p:nvSpPr>
          <p:cNvPr id="18" name="TextBox 17"/>
          <p:cNvSpPr txBox="1"/>
          <p:nvPr/>
        </p:nvSpPr>
        <p:spPr>
          <a:xfrm>
            <a:off x="8321040" y="2971800"/>
            <a:ext cx="297180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Mantras, Visualisierung, Rituale</a:t>
            </a:r>
          </a:p>
          <a:p>
            <a:pPr>
              <a:spcAft>
                <a:spcPts val="1000"/>
              </a:spcAft>
              <a:defRPr sz="2000" b="0">
                <a:solidFill>
                  <a:srgbClr val="173238"/>
                </a:solidFill>
                <a:latin typeface="Aptos"/>
              </a:defRPr>
            </a:pPr>
            <a:r>
              <a:t>U. a. tibetischer Buddhismus</a:t>
            </a:r>
          </a:p>
        </p:txBody>
      </p:sp>
      <p:sp>
        <p:nvSpPr>
          <p:cNvPr id="19" name="TextBox 18"/>
          <p:cNvSpPr txBox="1"/>
          <p:nvPr/>
        </p:nvSpPr>
        <p:spPr>
          <a:xfrm>
            <a:off x="731520" y="5760720"/>
            <a:ext cx="10698480" cy="365760"/>
          </a:xfrm>
          <a:prstGeom prst="rect">
            <a:avLst/>
          </a:prstGeom>
          <a:noFill/>
        </p:spPr>
        <p:txBody>
          <a:bodyPr wrap="square" lIns="0" rIns="0" tIns="0" bIns="0">
            <a:spAutoFit/>
          </a:bodyPr>
          <a:lstStyle/>
          <a:p>
            <a:pPr>
              <a:spcAft>
                <a:spcPts val="1000"/>
              </a:spcAft>
              <a:defRPr sz="1500" b="0">
                <a:solidFill>
                  <a:srgbClr val="577477"/>
                </a:solidFill>
                <a:latin typeface="Aptos"/>
              </a:defRPr>
            </a:pPr>
            <a:r>
              <a:t>Der Dalai Lama ist kein Oberhaupt aller Buddhisten. Die Einteilung vereinfacht eine große Vielfalt.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10 / GLOBALE LEBENSWELTEN</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Buddhismus heute</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11</a:t>
            </a:r>
          </a:p>
        </p:txBody>
      </p:sp>
      <p:sp>
        <p:nvSpPr>
          <p:cNvPr id="7" name="Rounded Rectangle 6"/>
          <p:cNvSpPr/>
          <p:nvPr/>
        </p:nvSpPr>
        <p:spPr>
          <a:xfrm>
            <a:off x="640080" y="2103120"/>
            <a:ext cx="530352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86000"/>
            <a:ext cx="475488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Weltweite Gemeinschaften</a:t>
            </a:r>
          </a:p>
        </p:txBody>
      </p:sp>
      <p:sp>
        <p:nvSpPr>
          <p:cNvPr id="10" name="TextBox 9"/>
          <p:cNvSpPr txBox="1"/>
          <p:nvPr/>
        </p:nvSpPr>
        <p:spPr>
          <a:xfrm>
            <a:off x="914400" y="2971800"/>
            <a:ext cx="475488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Von Südasien in viele Teile Asiens.</a:t>
            </a:r>
          </a:p>
          <a:p>
            <a:pPr>
              <a:spcAft>
                <a:spcPts val="1000"/>
              </a:spcAft>
              <a:defRPr sz="2000" b="0">
                <a:solidFill>
                  <a:srgbClr val="173238"/>
                </a:solidFill>
                <a:latin typeface="Aptos"/>
              </a:defRPr>
            </a:pPr>
            <a:r>
              <a:t>Heute auch in Deutschland:</a:t>
            </a:r>
          </a:p>
          <a:p>
            <a:pPr>
              <a:spcAft>
                <a:spcPts val="1000"/>
              </a:spcAft>
              <a:defRPr sz="2000" b="0">
                <a:solidFill>
                  <a:srgbClr val="173238"/>
                </a:solidFill>
                <a:latin typeface="Aptos"/>
              </a:defRPr>
            </a:pPr>
            <a:r>
              <a:t>Migration, Konversion, Austausch.</a:t>
            </a:r>
          </a:p>
        </p:txBody>
      </p:sp>
      <p:sp>
        <p:nvSpPr>
          <p:cNvPr id="11" name="Rounded Rectangle 10"/>
          <p:cNvSpPr/>
          <p:nvPr/>
        </p:nvSpPr>
        <p:spPr>
          <a:xfrm>
            <a:off x="6217920" y="2103120"/>
            <a:ext cx="530352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286000"/>
            <a:ext cx="475488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Kritisch nachfragen</a:t>
            </a:r>
          </a:p>
        </p:txBody>
      </p:sp>
      <p:sp>
        <p:nvSpPr>
          <p:cNvPr id="14" name="TextBox 13"/>
          <p:cNvSpPr txBox="1"/>
          <p:nvPr/>
        </p:nvSpPr>
        <p:spPr>
          <a:xfrm>
            <a:off x="6492240" y="2971800"/>
            <a:ext cx="475488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Achtsamkeit: Religion oder Produkt?</a:t>
            </a:r>
          </a:p>
          <a:p>
            <a:pPr>
              <a:spcAft>
                <a:spcPts val="1000"/>
              </a:spcAft>
              <a:defRPr sz="2000" b="0">
                <a:solidFill>
                  <a:srgbClr val="173238"/>
                </a:solidFill>
                <a:latin typeface="Aptos"/>
              </a:defRPr>
            </a:pPr>
            <a:r>
              <a:t>Gleichberechtigung in den Orden?</a:t>
            </a:r>
          </a:p>
          <a:p>
            <a:pPr>
              <a:spcAft>
                <a:spcPts val="1000"/>
              </a:spcAft>
              <a:defRPr sz="2000" b="0">
                <a:solidFill>
                  <a:srgbClr val="173238"/>
                </a:solidFill>
                <a:latin typeface="Aptos"/>
              </a:defRPr>
            </a:pPr>
            <a:r>
              <a:t>Wie verhalten sich Ideal und Praxis?</a:t>
            </a:r>
          </a:p>
        </p:txBody>
      </p:sp>
      <p:sp>
        <p:nvSpPr>
          <p:cNvPr id="15" name="TextBox 14"/>
          <p:cNvSpPr txBox="1"/>
          <p:nvPr/>
        </p:nvSpPr>
        <p:spPr>
          <a:xfrm>
            <a:off x="731520" y="5760720"/>
            <a:ext cx="10698480" cy="320040"/>
          </a:xfrm>
          <a:prstGeom prst="rect">
            <a:avLst/>
          </a:prstGeom>
          <a:noFill/>
        </p:spPr>
        <p:txBody>
          <a:bodyPr wrap="square" lIns="0" rIns="0" tIns="0" bIns="0">
            <a:spAutoFit/>
          </a:bodyPr>
          <a:lstStyle/>
          <a:p>
            <a:pPr>
              <a:spcAft>
                <a:spcPts val="1000"/>
              </a:spcAft>
              <a:defRPr sz="1500" b="0">
                <a:solidFill>
                  <a:srgbClr val="577477"/>
                </a:solidFill>
                <a:latin typeface="Aptos"/>
              </a:defRPr>
            </a:pPr>
            <a:r>
              <a:t>Mitgefühl und Gewaltlosigkeit sind Ideale; religiöse Gesellschaften bleiben konfliktanfällig.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11 / GEMEINSAMKEITEN &amp; UNTERSCHIEDE</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Vergleich mit dem Hinduismus</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12</a:t>
            </a:r>
          </a:p>
        </p:txBody>
      </p:sp>
      <p:sp>
        <p:nvSpPr>
          <p:cNvPr id="7" name="Rounded Rectangle 6"/>
          <p:cNvSpPr/>
          <p:nvPr/>
        </p:nvSpPr>
        <p:spPr>
          <a:xfrm>
            <a:off x="640080" y="2103120"/>
            <a:ext cx="530352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59"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86000"/>
            <a:ext cx="475488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Gemeinsame Fragen</a:t>
            </a:r>
          </a:p>
        </p:txBody>
      </p:sp>
      <p:sp>
        <p:nvSpPr>
          <p:cNvPr id="10" name="TextBox 9"/>
          <p:cNvSpPr txBox="1"/>
          <p:nvPr/>
        </p:nvSpPr>
        <p:spPr>
          <a:xfrm>
            <a:off x="914400" y="2971800"/>
            <a:ext cx="475488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Karma, Wiedergeburt und Befreiung.</a:t>
            </a:r>
          </a:p>
          <a:p>
            <a:pPr>
              <a:spcAft>
                <a:spcPts val="1000"/>
              </a:spcAft>
              <a:defRPr sz="2000" b="0">
                <a:solidFill>
                  <a:srgbClr val="173238"/>
                </a:solidFill>
                <a:latin typeface="Aptos"/>
              </a:defRPr>
            </a:pPr>
            <a:r>
              <a:t>Historische Verbindungen.</a:t>
            </a:r>
          </a:p>
          <a:p>
            <a:pPr>
              <a:spcAft>
                <a:spcPts val="1000"/>
              </a:spcAft>
              <a:defRPr sz="2000" b="0">
                <a:solidFill>
                  <a:srgbClr val="173238"/>
                </a:solidFill>
                <a:latin typeface="Aptos"/>
              </a:defRPr>
            </a:pPr>
            <a:r>
              <a:t>Begriffe werden unterschiedlich gedeutet.</a:t>
            </a:r>
          </a:p>
        </p:txBody>
      </p:sp>
      <p:sp>
        <p:nvSpPr>
          <p:cNvPr id="11" name="Rounded Rectangle 10"/>
          <p:cNvSpPr/>
          <p:nvPr/>
        </p:nvSpPr>
        <p:spPr>
          <a:xfrm>
            <a:off x="6217920" y="2103120"/>
            <a:ext cx="5303520" cy="3383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2304288"/>
            <a:ext cx="54864" cy="38404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286000"/>
            <a:ext cx="4754880" cy="548640"/>
          </a:xfrm>
          <a:prstGeom prst="rect">
            <a:avLst/>
          </a:prstGeom>
          <a:noFill/>
        </p:spPr>
        <p:txBody>
          <a:bodyPr wrap="square" lIns="0" rIns="0" tIns="0" bIns="0">
            <a:spAutoFit/>
          </a:bodyPr>
          <a:lstStyle/>
          <a:p>
            <a:pPr>
              <a:spcAft>
                <a:spcPts val="1000"/>
              </a:spcAft>
              <a:defRPr sz="2300" b="1">
                <a:solidFill>
                  <a:srgbClr val="143D43"/>
                </a:solidFill>
                <a:latin typeface="Aptos"/>
              </a:defRPr>
            </a:pPr>
            <a:r>
              <a:t>Unterschiedliche Antworten</a:t>
            </a:r>
          </a:p>
        </p:txBody>
      </p:sp>
      <p:sp>
        <p:nvSpPr>
          <p:cNvPr id="14" name="TextBox 13"/>
          <p:cNvSpPr txBox="1"/>
          <p:nvPr/>
        </p:nvSpPr>
        <p:spPr>
          <a:xfrm>
            <a:off x="6492240" y="2971800"/>
            <a:ext cx="4754880" cy="2423160"/>
          </a:xfrm>
          <a:prstGeom prst="rect">
            <a:avLst/>
          </a:prstGeom>
          <a:noFill/>
        </p:spPr>
        <p:txBody>
          <a:bodyPr wrap="square" lIns="0" rIns="0" tIns="0" bIns="0">
            <a:spAutoFit/>
          </a:bodyPr>
          <a:lstStyle/>
          <a:p>
            <a:pPr>
              <a:spcAft>
                <a:spcPts val="1000"/>
              </a:spcAft>
              <a:defRPr sz="2000" b="0">
                <a:solidFill>
                  <a:srgbClr val="173238"/>
                </a:solidFill>
                <a:latin typeface="Aptos"/>
              </a:defRPr>
            </a:pPr>
            <a:r>
              <a:t>Viele hinduistische Schulen: Atman.</a:t>
            </a:r>
          </a:p>
          <a:p>
            <a:pPr>
              <a:spcAft>
                <a:spcPts val="1000"/>
              </a:spcAft>
              <a:defRPr sz="2000" b="0">
                <a:solidFill>
                  <a:srgbClr val="173238"/>
                </a:solidFill>
                <a:latin typeface="Aptos"/>
              </a:defRPr>
            </a:pPr>
            <a:r>
              <a:t>Buddhistische Lehre: Anatta.</a:t>
            </a:r>
          </a:p>
          <a:p>
            <a:pPr>
              <a:spcAft>
                <a:spcPts val="1000"/>
              </a:spcAft>
              <a:defRPr sz="2000" b="0">
                <a:solidFill>
                  <a:srgbClr val="173238"/>
                </a:solidFill>
                <a:latin typeface="Aptos"/>
              </a:defRPr>
            </a:pPr>
            <a:r>
              <a:t>Veden nicht verbindliche Autorität.</a:t>
            </a:r>
          </a:p>
        </p:txBody>
      </p:sp>
      <p:sp>
        <p:nvSpPr>
          <p:cNvPr id="15" name="TextBox 14"/>
          <p:cNvSpPr txBox="1"/>
          <p:nvPr/>
        </p:nvSpPr>
        <p:spPr>
          <a:xfrm>
            <a:off x="731520" y="5760720"/>
            <a:ext cx="10698480" cy="320040"/>
          </a:xfrm>
          <a:prstGeom prst="rect">
            <a:avLst/>
          </a:prstGeom>
          <a:noFill/>
        </p:spPr>
        <p:txBody>
          <a:bodyPr wrap="square" lIns="0" rIns="0" tIns="0" bIns="0">
            <a:spAutoFit/>
          </a:bodyPr>
          <a:lstStyle/>
          <a:p>
            <a:pPr>
              <a:spcAft>
                <a:spcPts val="1000"/>
              </a:spcAft>
              <a:defRPr sz="1400" b="0">
                <a:solidFill>
                  <a:srgbClr val="577477"/>
                </a:solidFill>
                <a:latin typeface="Aptos"/>
              </a:defRPr>
            </a:pPr>
            <a:r>
              <a:t>Buddhismus braucht keinen Schöpfergott – viele Traditionen kennen dennoch Götter und himmlische Wesen.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3D4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12 / FAZIT &amp; DISKUSSION</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F5EFE3"/>
                </a:solidFill>
                <a:latin typeface="Aptos"/>
              </a:defRPr>
            </a:pPr>
            <a:r>
              <a:t>Loslassen – und trotzdem handeln?</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13</a:t>
            </a:r>
          </a:p>
        </p:txBody>
      </p:sp>
      <p:sp>
        <p:nvSpPr>
          <p:cNvPr id="7" name="TextBox 6"/>
          <p:cNvSpPr txBox="1"/>
          <p:nvPr/>
        </p:nvSpPr>
        <p:spPr>
          <a:xfrm>
            <a:off x="731520" y="2148840"/>
            <a:ext cx="10698480" cy="1463040"/>
          </a:xfrm>
          <a:prstGeom prst="rect">
            <a:avLst/>
          </a:prstGeom>
          <a:noFill/>
        </p:spPr>
        <p:txBody>
          <a:bodyPr wrap="square" lIns="0" rIns="0" tIns="0" bIns="0">
            <a:spAutoFit/>
          </a:bodyPr>
          <a:lstStyle/>
          <a:p>
            <a:pPr>
              <a:spcAft>
                <a:spcPts val="1000"/>
              </a:spcAft>
              <a:defRPr sz="3500" b="1">
                <a:solidFill>
                  <a:srgbClr val="F5EFE3"/>
                </a:solidFill>
                <a:latin typeface="Aptos"/>
              </a:defRPr>
            </a:pPr>
            <a:r>
              <a:t>Macht Loslassen gleichgültig –</a:t>
            </a:r>
          </a:p>
          <a:p>
            <a:pPr>
              <a:spcAft>
                <a:spcPts val="1000"/>
              </a:spcAft>
              <a:defRPr sz="3500" b="1">
                <a:solidFill>
                  <a:srgbClr val="F5EFE3"/>
                </a:solidFill>
                <a:latin typeface="Aptos"/>
              </a:defRPr>
            </a:pPr>
            <a:r>
              <a:t>oder stärkt es Mitgefühl?</a:t>
            </a:r>
          </a:p>
        </p:txBody>
      </p:sp>
      <p:sp>
        <p:nvSpPr>
          <p:cNvPr id="8" name="Rounded Rectangle 7"/>
          <p:cNvSpPr/>
          <p:nvPr/>
        </p:nvSpPr>
        <p:spPr>
          <a:xfrm>
            <a:off x="731520" y="4297680"/>
            <a:ext cx="3383280" cy="1005840"/>
          </a:xfrm>
          <a:prstGeom prst="round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572000"/>
            <a:ext cx="3017520" cy="640080"/>
          </a:xfrm>
          <a:prstGeom prst="rect">
            <a:avLst/>
          </a:prstGeom>
          <a:noFill/>
        </p:spPr>
        <p:txBody>
          <a:bodyPr wrap="square" lIns="0" rIns="0" tIns="0" bIns="0">
            <a:spAutoFit/>
          </a:bodyPr>
          <a:lstStyle/>
          <a:p>
            <a:pPr>
              <a:spcAft>
                <a:spcPts val="1000"/>
              </a:spcAft>
              <a:defRPr sz="2200" b="1">
                <a:solidFill>
                  <a:srgbClr val="143D43"/>
                </a:solidFill>
                <a:latin typeface="Aptos"/>
              </a:defRPr>
            </a:pPr>
            <a:r>
              <a:t>Einsicht</a:t>
            </a:r>
          </a:p>
        </p:txBody>
      </p:sp>
      <p:sp>
        <p:nvSpPr>
          <p:cNvPr id="10" name="Rounded Rectangle 9"/>
          <p:cNvSpPr/>
          <p:nvPr/>
        </p:nvSpPr>
        <p:spPr>
          <a:xfrm>
            <a:off x="4389120" y="4297680"/>
            <a:ext cx="3383280" cy="1005840"/>
          </a:xfrm>
          <a:prstGeom prst="round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4572000"/>
            <a:ext cx="3017520" cy="640080"/>
          </a:xfrm>
          <a:prstGeom prst="rect">
            <a:avLst/>
          </a:prstGeom>
          <a:noFill/>
        </p:spPr>
        <p:txBody>
          <a:bodyPr wrap="square" lIns="0" rIns="0" tIns="0" bIns="0">
            <a:spAutoFit/>
          </a:bodyPr>
          <a:lstStyle/>
          <a:p>
            <a:pPr>
              <a:spcAft>
                <a:spcPts val="1000"/>
              </a:spcAft>
              <a:defRPr sz="2200" b="1">
                <a:solidFill>
                  <a:srgbClr val="143D43"/>
                </a:solidFill>
                <a:latin typeface="Aptos"/>
              </a:defRPr>
            </a:pPr>
            <a:r>
              <a:t>Ethisches Handeln</a:t>
            </a:r>
          </a:p>
        </p:txBody>
      </p:sp>
      <p:sp>
        <p:nvSpPr>
          <p:cNvPr id="12" name="Rounded Rectangle 11"/>
          <p:cNvSpPr/>
          <p:nvPr/>
        </p:nvSpPr>
        <p:spPr>
          <a:xfrm>
            <a:off x="8046720" y="4297680"/>
            <a:ext cx="3383280" cy="1005840"/>
          </a:xfrm>
          <a:prstGeom prst="round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4572000"/>
            <a:ext cx="3017520" cy="640080"/>
          </a:xfrm>
          <a:prstGeom prst="rect">
            <a:avLst/>
          </a:prstGeom>
          <a:noFill/>
        </p:spPr>
        <p:txBody>
          <a:bodyPr wrap="square" lIns="0" rIns="0" tIns="0" bIns="0">
            <a:spAutoFit/>
          </a:bodyPr>
          <a:lstStyle/>
          <a:p>
            <a:pPr>
              <a:spcAft>
                <a:spcPts val="1000"/>
              </a:spcAft>
              <a:defRPr sz="2200" b="1">
                <a:solidFill>
                  <a:srgbClr val="143D43"/>
                </a:solidFill>
                <a:latin typeface="Aptos"/>
              </a:defRPr>
            </a:pPr>
            <a:r>
              <a:t>Geistige Übung</a:t>
            </a:r>
          </a:p>
        </p:txBody>
      </p:sp>
      <p:sp>
        <p:nvSpPr>
          <p:cNvPr id="14" name="TextBox 13"/>
          <p:cNvSpPr txBox="1"/>
          <p:nvPr/>
        </p:nvSpPr>
        <p:spPr>
          <a:xfrm>
            <a:off x="731520" y="5715000"/>
            <a:ext cx="10607040" cy="365760"/>
          </a:xfrm>
          <a:prstGeom prst="rect">
            <a:avLst/>
          </a:prstGeom>
          <a:noFill/>
        </p:spPr>
        <p:txBody>
          <a:bodyPr wrap="square" lIns="0" rIns="0" tIns="0" bIns="0">
            <a:spAutoFit/>
          </a:bodyPr>
          <a:lstStyle/>
          <a:p>
            <a:pPr>
              <a:spcAft>
                <a:spcPts val="1000"/>
              </a:spcAft>
              <a:defRPr sz="1800" b="0">
                <a:solidFill>
                  <a:srgbClr val="F5EFE3"/>
                </a:solidFill>
                <a:latin typeface="Aptos"/>
              </a:defRPr>
            </a:pPr>
            <a:r>
              <a:t>1 Minute Austausch · Helfen, ohne eine Gegenleistung zu erwarten?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EFE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1000"/>
              </a:spcAft>
              <a:defRPr sz="1100" b="1">
                <a:solidFill>
                  <a:srgbClr val="C89C51"/>
                </a:solidFill>
                <a:latin typeface="Aptos"/>
              </a:defRPr>
            </a:pPr>
            <a:r>
              <a:t>ZUM NACHLESEN</a:t>
            </a:r>
          </a:p>
        </p:txBody>
      </p:sp>
      <p:sp>
        <p:nvSpPr>
          <p:cNvPr id="3" name="TextBox 2"/>
          <p:cNvSpPr txBox="1"/>
          <p:nvPr/>
        </p:nvSpPr>
        <p:spPr>
          <a:xfrm>
            <a:off x="594360" y="868680"/>
            <a:ext cx="10972800" cy="1005840"/>
          </a:xfrm>
          <a:prstGeom prst="rect">
            <a:avLst/>
          </a:prstGeom>
          <a:noFill/>
        </p:spPr>
        <p:txBody>
          <a:bodyPr wrap="square" lIns="0" rIns="0" tIns="0" bIns="0">
            <a:spAutoFit/>
          </a:bodyPr>
          <a:lstStyle/>
          <a:p>
            <a:pPr>
              <a:spcAft>
                <a:spcPts val="1000"/>
              </a:spcAft>
              <a:defRPr sz="3400" b="1">
                <a:solidFill>
                  <a:srgbClr val="143D43"/>
                </a:solidFill>
                <a:latin typeface="Aptos"/>
              </a:defRPr>
            </a:pPr>
            <a:r>
              <a:t>Quellen &amp; Bildnachweise</a:t>
            </a:r>
          </a:p>
        </p:txBody>
      </p:sp>
      <p:sp>
        <p:nvSpPr>
          <p:cNvPr id="4" name="Rectangle 3"/>
          <p:cNvSpPr/>
          <p:nvPr/>
        </p:nvSpPr>
        <p:spPr>
          <a:xfrm>
            <a:off x="594360" y="6382512"/>
            <a:ext cx="10972800" cy="18288"/>
          </a:xfrm>
          <a:prstGeom prst="rect">
            <a:avLst/>
          </a:prstGeom>
          <a:solidFill>
            <a:srgbClr val="C89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10528"/>
            <a:ext cx="8229600" cy="182880"/>
          </a:xfrm>
          <a:prstGeom prst="rect">
            <a:avLst/>
          </a:prstGeom>
          <a:noFill/>
        </p:spPr>
        <p:txBody>
          <a:bodyPr wrap="square" lIns="0" rIns="0" tIns="0" bIns="0">
            <a:spAutoFit/>
          </a:bodyPr>
          <a:lstStyle/>
          <a:p>
            <a:pPr>
              <a:spcAft>
                <a:spcPts val="1000"/>
              </a:spcAft>
              <a:defRPr sz="900" b="0">
                <a:solidFill>
                  <a:srgbClr val="C89C51"/>
                </a:solidFill>
                <a:latin typeface="Aptos"/>
              </a:defRPr>
            </a:pPr>
            <a:r>
              <a:t>RELIGION · KLASSE 13     /     VIELFALT VERSTEHEN</a:t>
            </a:r>
          </a:p>
        </p:txBody>
      </p:sp>
      <p:sp>
        <p:nvSpPr>
          <p:cNvPr id="6" name="TextBox 5"/>
          <p:cNvSpPr txBox="1"/>
          <p:nvPr/>
        </p:nvSpPr>
        <p:spPr>
          <a:xfrm>
            <a:off x="10972800" y="6492240"/>
            <a:ext cx="594360" cy="228600"/>
          </a:xfrm>
          <a:prstGeom prst="rect">
            <a:avLst/>
          </a:prstGeom>
          <a:noFill/>
        </p:spPr>
        <p:txBody>
          <a:bodyPr wrap="square" lIns="0" rIns="0" tIns="0" bIns="0">
            <a:spAutoFit/>
          </a:bodyPr>
          <a:lstStyle/>
          <a:p>
            <a:pPr>
              <a:spcAft>
                <a:spcPts val="1000"/>
              </a:spcAft>
              <a:defRPr sz="1000" b="0">
                <a:solidFill>
                  <a:srgbClr val="C89C51"/>
                </a:solidFill>
                <a:latin typeface="Aptos"/>
              </a:defRPr>
            </a:pPr>
            <a:r>
              <a:t>14</a:t>
            </a:r>
          </a:p>
        </p:txBody>
      </p:sp>
      <p:sp>
        <p:nvSpPr>
          <p:cNvPr id="7" name="TextBox 6"/>
          <p:cNvSpPr txBox="1"/>
          <p:nvPr/>
        </p:nvSpPr>
        <p:spPr>
          <a:xfrm>
            <a:off x="731520" y="2057400"/>
            <a:ext cx="10698480" cy="3474720"/>
          </a:xfrm>
          <a:prstGeom prst="rect">
            <a:avLst/>
          </a:prstGeom>
          <a:noFill/>
        </p:spPr>
        <p:txBody>
          <a:bodyPr wrap="square" lIns="0" rIns="0" tIns="0" bIns="0">
            <a:spAutoFit/>
          </a:bodyPr>
          <a:lstStyle/>
          <a:p>
            <a:pPr>
              <a:spcAft>
                <a:spcPts val="1000"/>
              </a:spcAft>
              <a:defRPr sz="2000" b="0">
                <a:solidFill>
                  <a:srgbClr val="173238"/>
                </a:solidFill>
                <a:latin typeface="Aptos"/>
              </a:defRPr>
            </a:pPr>
            <a:r>
              <a:t>Encyclopaedia Britannica: Buddhism</a:t>
            </a:r>
          </a:p>
          <a:p>
            <a:pPr>
              <a:spcAft>
                <a:spcPts val="1000"/>
              </a:spcAft>
              <a:defRPr sz="2000" b="0">
                <a:solidFill>
                  <a:srgbClr val="173238"/>
                </a:solidFill>
                <a:latin typeface="Aptos"/>
              </a:defRPr>
            </a:pPr>
            <a:r>
              <a:t>BBC Religion: Buddhism</a:t>
            </a:r>
          </a:p>
          <a:p>
            <a:pPr>
              <a:spcAft>
                <a:spcPts val="1000"/>
              </a:spcAft>
              <a:defRPr sz="2000" b="0">
                <a:solidFill>
                  <a:srgbClr val="173238"/>
                </a:solidFill>
                <a:latin typeface="Aptos"/>
              </a:defRPr>
            </a:pPr>
            <a:r>
              <a:t>SN 56.11: Die vier Wahrheiten und der achtfache Pfad</a:t>
            </a:r>
          </a:p>
          <a:p>
            <a:pPr>
              <a:spcAft>
                <a:spcPts val="1000"/>
              </a:spcAft>
              <a:defRPr sz="2000" b="0">
                <a:solidFill>
                  <a:srgbClr val="173238"/>
                </a:solidFill>
                <a:latin typeface="Aptos"/>
              </a:defRPr>
            </a:pPr>
            <a:r>
              <a:t>SN 22.59: Die Lehre vom Nicht-Selbst</a:t>
            </a:r>
          </a:p>
          <a:p>
            <a:pPr>
              <a:spcAft>
                <a:spcPts val="1000"/>
              </a:spcAft>
              <a:defRPr sz="2000" b="0">
                <a:solidFill>
                  <a:srgbClr val="173238"/>
                </a:solidFill>
                <a:latin typeface="Aptos"/>
              </a:defRPr>
            </a:pPr>
            <a:r>
              <a:t>Titelbild und Bilddetail: KI-Illustration, mit OpenAI erstellt</a:t>
            </a:r>
          </a:p>
          <a:p>
            <a:pPr>
              <a:spcAft>
                <a:spcPts val="1000"/>
              </a:spcAft>
              <a:defRPr sz="2000" b="0">
                <a:solidFill>
                  <a:srgbClr val="173238"/>
                </a:solidFill>
                <a:latin typeface="Aptos"/>
              </a:defRPr>
            </a:pPr>
            <a:r>
              <a:t>Rad des Dharma und Schaubilder: eigens erstellt</a:t>
            </a:r>
          </a:p>
        </p:txBody>
      </p:sp>
      <p:sp>
        <p:nvSpPr>
          <p:cNvPr id="8" name="TextBox 7"/>
          <p:cNvSpPr txBox="1"/>
          <p:nvPr/>
        </p:nvSpPr>
        <p:spPr>
          <a:xfrm>
            <a:off x="731520" y="5760720"/>
            <a:ext cx="10698480" cy="365760"/>
          </a:xfrm>
          <a:prstGeom prst="rect">
            <a:avLst/>
          </a:prstGeom>
          <a:noFill/>
        </p:spPr>
        <p:txBody>
          <a:bodyPr wrap="square" lIns="0" rIns="0" tIns="0" bIns="0">
            <a:spAutoFit/>
          </a:bodyPr>
          <a:lstStyle/>
          <a:p>
            <a:pPr>
              <a:spcAft>
                <a:spcPts val="1000"/>
              </a:spcAft>
              <a:defRPr sz="1400" b="0">
                <a:solidFill>
                  <a:srgbClr val="577477"/>
                </a:solidFill>
                <a:latin typeface="Aptos"/>
              </a:defRPr>
            </a:pPr>
            <a:r>
              <a:t>Vollständige Links in den Sprechernotizen. Webseiten konnten nicht live überprüft werden.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