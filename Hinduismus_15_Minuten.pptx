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min. Einstieg: Was verbindet ihr mit Hinduismus? Zwei spontane Begriffe aufnehmen. Anschließend die Leitfrage vorstellen: Wie kann eine Religion zusammengehören, obwohl sie keine einheitliche Lehre und keine zentrale Autorität hat? Heute geht es um einen Überblick, nicht um eine vollständige Darstellung aller Traditionen. Das Referenzbild zeigt eine buddhistische Stupa, vermutlich Boudhanath in Kathmandu. Seine Farben prägen das Design; es wird nicht als hinduistischer Tempel ausgegeben. Am Ende soll deutlich werden, dass Hinduismus viel mehr ist als eine Liste von Göttern.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min. Hinduismus ist ein Sammelbegriff für unterschiedliche religiöse Traditionen, die sich über lange Zeit in Südasien entwickelt haben. Es gibt weder einen einzelnen Gründer noch ein für alle verbindliches Glaubensbekenntnis. Viele Hindus beziehen sich auf Dharma, Karma, Wiedergeburt und Befreiung, deuten diese aber unterschiedlich. Auch regionale Sprachen, Familien und religiöse Gemeinschaften prägen den Glauben. Sanatana Dharma, häufig als ewige Ordnung übersetzt, ist eine Selbstbezeichnung, die manche Hindus verwenden. Weltweit leben hinduistische Gemeinschaften, etwa in Großbritannien, Nordamerika oder auf Mauritius. Deshalb sollte man bei Aussagen über den Hinduismus immer nachfragen: Welche Tradition ist gemeint?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min. Die Entwicklung lässt sich nicht auf einen einzigen Gründungszeitpunkt reduzieren. Die Veden sind sehr alte Sammlungen von Hymnen und Ritualtexten. Ihre mündliche Überlieferung ist besonders wichtig. Die späteren Upanishaden beschäftigen sich unter anderem mit dem Selbst und der letzten Wirklichkeit. Die Bhagavadgita ist Teil des Mahabharata: In einem Gespräch zwischen Krishna und Arjuna geht es darum, wie man angesichts schwieriger Pflichten verantwortlich handelt. Das Ramayana erzählt von Rama und Sita und prägt bis heute religiöse Feste und Vorstellungen. Texte haben unterschiedliche Autorität in unterschiedlichen Gemeinschaften. Viele Menschen begegnen ihrer Religion vor allem durch Erzählungen, Rituale, Gesang und Familienpraxis.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min. Hinduismus nur als Polytheismus zu bezeichnen, greift zu kurz. Manche Traditionen verehren viele Gottheiten, andere stellen eine höchste Gottheit in den Mittelpunkt. Wieder andere denken vor allem über eine letzte Wirklichkeit nach, Brahman. Vishnu wird in verschiedenen Erscheinungsformen verehrt, darunter Krishna und Rama. Shiva ist unter anderem mit Wandlung, Askese und Zerstörung verbunden. Devi bezeichnet die Göttin, die in vielen Gestalten verehrt wird. Diese Begriffe sind keine vollständige Liste und die Gottheiten haben mehr Bedeutung als jeweils eine Funktion. Die oft genannte Dreiergruppe Brahma, Vishnu und Shiva ist kein gemeinsames Glaubensbekenntnis aller Hindus. Brahman und Brahma klingen ähnlich, meinen aber Unterschiedliches.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min. Karma bedeutet zunächst Handlung und bezeichnet in religiösen Zusammenhängen das Wirken von Handlungen und ihren Folgen. Es ist nicht einfach Schicksal oder eine sofortige kosmische Belohnung und Strafe. Samsara ist der Kreislauf von Geburt, Tod und Wiedergeburt. Moksha bedeutet Befreiung aus diesem Kreislauf. Viele philosophische Schulen sprechen vom Atman, dem Selbst. In Advaita Vedanta gilt die letztliche Identität von Atman und Brahman; andere Schulen unterscheiden Selbst und Gott dauerhaft. Als Beispiel kann man fragen, wie wiederholtes Handeln das Leben und die eigene Haltung prägt. Dieses Beispiel erklärt die ethische Dimension, beweist aber keine Wiedergeburt. Die Begriffe dürfen nicht benutzt werden, um Menschen für Armut oder Leid pauschal verantwortlich zu machen.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min. Dharma ist ein vieldeutiger Begriff: Er kann religiöse Ordnung, Lebensführung und Pflichten bezeichnen. Was richtiges Handeln bedeutet, wird unter anderem nach Lebensphase, Situation und Tradition beurteilt. Das wirft eine anspruchsvolle Frage auf: Was mache ich, wenn verschiedene Pflichten miteinander in Konflikt geraten? Genau solche Konflikte behandelt auch die Bhagavadgita. Ahimsa bedeutet Nichtverletzen und ist in vielen Traditionen ein wichtiges Ideal, aber nicht alle Hindus leben vegetarisch. Es gibt keine durchgehend einheitliche Alltagsethik. Für den Religionsunterricht ist interessant, wie traditionelle Rollenerwartungen mit persönlichem Gewissen und modernen Vorstellungen von Gleichberechtigung zusammengebracht oder kritisiert werden.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min. Die Wege sind keine strikt getrennten Schubladen. Bhakti betont eine persönliche Beziehung zu einer Gottheit, beispielsweise durch Gebet, Gesang und Hingabe. Jnana ist der Weg der Erkenntnis, bei dem Einsicht in Selbst und Wirklichkeit entscheidend ist. Karma-Yoga bedeutet verantwortliches Handeln, ohne sich an die Früchte des Handelns zu klammern. Das bedeutet nicht Gleichgültigkeit gegenüber Folgen, sondern eine andere Haltung zu Erfolg und Eigennutz. Meditation und Yoga können weitere Elemente sein. Das moderne Fitnessangebot Yoga ist nur ein Ausschnitt aus viel breiteren philosophischen und religiösen Traditionen. In der Praxis verbinden viele Menschen mehrere Wege.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min. Puja bezeichnet religiöse Verehrung. Dazu können Licht, Blumen, Weihrauch, Speisen und Gebete gehören. Darshan beschreibt eine Begegnung durch das Sehen der Gottheit und das Gesehenwerden. Eine Murti, ein verehrtes Bild oder eine Gestalt der Gottheit, wird daher nicht einfach als beliebiger Gegenstand verstanden. Religiöse Praxis findet oft im Haushalt statt und nicht nur im Tempel. Diwali ist ein Lichterfest mit verschiedenen regionalen und religiösen Deutungen; auch außerhalb des Hinduismus wird es begangen. Holi ist vielerorts mit Frühling, Farben und Erzählungen über Krishna oder Prahlada verbunden. Pilgerorte und Flüsse können heilig sein. Nicht jeder Hindu praktiziert alle genannten Rituale.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min. Varna und Jati müssen unterschieden werden. Varna ist ein traditionelles idealisiertes Modell mit vier Kategorien; Jati bezeichnet viele konkrete soziale Gruppen mit regional unterschiedlichen Beziehungen. Menschen, die aus dem Varna-Modell ausgeschlossen wurden, bezeichnen sich heute häufig als Dalits, aber Selbstbezeichnungen unterscheiden sich. Kastenordnungen haben religiöse Legitimationen erhalten, wurden aber auch von religiösen Reformbewegungen kritisiert. Die indische Verfassung schafft die sogenannte Unberührbarkeit ab; Diskriminierung besteht dennoch fort. Kastenzugehörigkeit wirkt auch in anderen religiösen Gemeinschaften Südasiens. Deshalb ist Kaste weder auf Hinduismus zu reduzieren noch als unveränderliche Eigenschaft aller Hindus darzustellen. Für unsere Leitfrage ist entscheidend: Wer darf religiöse Deutungen bestimmen und wer kritisiert ihre sozialen Folgen?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min. Hinduistische Gemeinschaften verändern sich durch Migration, Bildung, Medien und Reformbewegungen. Es gibt Diskussionen über Rollen von Frauen, die Anerkennung verschiedener Lebensweisen und soziale Gleichberechtigung. Manche berufen sich auf Tradition, andere interpretieren Tradition bewusst neu. Hindutva ist eine politische Ideologie, die indische nationale Identität eng mit hinduistischer Identität verbindet. Sie ist nicht mit der gesamten Religion identisch und wird auch von Hindus kritisch gesehen. Die Unterscheidung hilft, Nachrichten über Indien nicht pauschal als Ausdruck einer einheitlichen Religion zu lesen. Religiöse Vielfalt und gesellschaftliche Macht müssen gemeinsam betrachtet werden.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min. Beide Traditionen haben historische Verbindungen und teilen einige Begriffe, aber deren Bedeutungen sind nicht einfach identisch. Viele hinduistische Schulen sprechen von einem Atman; im Buddhismus ist Anatta, die Lehre vom Nicht-Selbst, zentral. Auch die Befreiungsziele und die Wege werden unterschiedlich verstanden. Das Referenzbild ist ein gutes Beispiel dafür, warum man religiöse Bilder genau zuordnen muss: Die Stupa ist ein buddhistisches Bauwerk, vermutlich Boudhanath in Kathmandu. Das Design kann sich an ihren Farben orientieren, ohne das Motiv als hinduistischen Tempel auszugeben. Auch innerhalb beider Religionen bleibt die Vielfalt wichtig.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min einschließlich etwa 1 Minute Gespräch. Zunächst drei Punkte zusammenfassen: Hinduismus ist eine Familie religiöser Traditionen. Karma, Dharma, Samsara und Moksha verbinden viele von ihnen, ohne überall dasselbe zu bedeuten. Gelebte Religion ist zugleich persönlich, gemeinschaftlich und gesellschaftlich. Dann die Klasse kurz zur Leitfrage diskutieren lassen: Braucht eine Religion eine einheitliche Lehre? Als Hilfsfrage anbieten: Entsteht Gemeinsamkeit auch durch Rituale, Geschichten und Lebensweisen? Zwei unterschiedliche Antworten aufnehmen und auf die Vielfalt des Hinduismus beziehen. Die zwölf Inhaltsfolien dauern einschließlich Diskussion insgesamt ungefähr 14 Minuten 50 Sekunden; die Quellenfolie bleibt zur Nachbereitung sichtbar.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Quellen zur Nachprüfung und Vertiefung, keine zusätzliche Vortragszeit eingeplant. https://www.britannica.com/topic/Hinduism ; https://www.britannica.com/topic/caste-social-differentiation ; https://www.britannica.com/topic/Buddhism ; https://www.bbc.co.uk/religion/religions/hinduism/ ; Bhagavadgita: Übersetzungen und Kommentierungen unterscheiden sich, für Zitate eine konkrete Ausgabe nennen. Indische Verfassung: https://legislative.gov.in/constitution-of-india/ , Artikel 17. Bildreferenz laut verlinktem Dateinamen: Raimond Klavins / Unsplash; URL https://www.weroad.de/blog/wp-content/uploads/2023/11/raimond-klavins-KKm1ua7MSf0-unsplash-3-1.jpg . Das Foto wurde nicht in die Datei eingebettet. Die Quellen sind Literaturhinweise; die Webseiten wurden in dieser Sitzung nicht live überprüft.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3D4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F5EFE3"/>
                </a:solidFill>
                <a:latin typeface="Aptos"/>
              </a:defRPr>
            </a:pPr>
            <a:r>
              <a:t>Hinduismus</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F5EFE3"/>
                </a:solidFill>
                <a:latin typeface="Aptos"/>
              </a:defRPr>
            </a:pPr>
            <a:r>
              <a:t>Eine Religion – viele Wege?</a:t>
            </a:r>
          </a:p>
          <a:p>
            <a:pPr>
              <a:spcAft>
                <a:spcPts val="1800"/>
              </a:spcAft>
              <a:defRPr sz="2500" b="0">
                <a:solidFill>
                  <a:srgbClr val="F5EFE3"/>
                </a:solidFill>
                <a:latin typeface="Aptos"/>
              </a:defRPr>
            </a:pPr>
            <a:r>
              <a:t>Grundvorstellungen, gelebte Religion und gesellschaftliche Fragen</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143D43"/>
                </a:solidFill>
                <a:latin typeface="Aptos"/>
              </a:defRPr>
            </a:pPr>
            <a:r>
              <a:t>Eine Familie religiöser Traditionen</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173238"/>
                </a:solidFill>
                <a:latin typeface="Aptos"/>
              </a:defRPr>
            </a:pPr>
            <a:r>
              <a:t>Kein einzelner Gründer · keine zentrale Kirchenleitung</a:t>
            </a:r>
          </a:p>
          <a:p>
            <a:pPr>
              <a:spcAft>
                <a:spcPts val="1800"/>
              </a:spcAft>
              <a:defRPr sz="2500" b="0">
                <a:solidFill>
                  <a:srgbClr val="173238"/>
                </a:solidFill>
                <a:latin typeface="Aptos"/>
              </a:defRPr>
            </a:pPr>
            <a:r>
              <a:t>Schwerpunkt: Indien und Nepal; weltweite Diaspora</a:t>
            </a:r>
          </a:p>
          <a:p>
            <a:pPr>
              <a:spcAft>
                <a:spcPts val="1800"/>
              </a:spcAft>
              <a:defRPr sz="2500" b="0">
                <a:solidFill>
                  <a:srgbClr val="173238"/>
                </a:solidFill>
                <a:latin typeface="Aptos"/>
              </a:defRPr>
            </a:pPr>
            <a:r>
              <a:t>Gemeinsame Begriffe, unterschiedliche Deutungen</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143D43"/>
                </a:solidFill>
                <a:latin typeface="Aptos"/>
              </a:defRPr>
            </a:pPr>
            <a:r>
              <a:t>Entwicklung und heilige Texte</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173238"/>
                </a:solidFill>
                <a:latin typeface="Aptos"/>
              </a:defRPr>
            </a:pPr>
            <a:r>
              <a:t>Vedische Traditionen: seit dem 2. Jahrtausend v. Chr.</a:t>
            </a:r>
          </a:p>
          <a:p>
            <a:pPr>
              <a:spcAft>
                <a:spcPts val="1800"/>
              </a:spcAft>
              <a:defRPr sz="2500" b="0">
                <a:solidFill>
                  <a:srgbClr val="173238"/>
                </a:solidFill>
                <a:latin typeface="Aptos"/>
              </a:defRPr>
            </a:pPr>
            <a:r>
              <a:t>Upanishaden: Fragen nach Selbst und Wirklichkeit</a:t>
            </a:r>
          </a:p>
          <a:p>
            <a:pPr>
              <a:spcAft>
                <a:spcPts val="1800"/>
              </a:spcAft>
              <a:defRPr sz="2500" b="0">
                <a:solidFill>
                  <a:srgbClr val="173238"/>
                </a:solidFill>
                <a:latin typeface="Aptos"/>
              </a:defRPr>
            </a:pPr>
            <a:r>
              <a:t>Bhagavadgita: Handeln, Erkenntnis und Hingabe</a:t>
            </a:r>
          </a:p>
          <a:p>
            <a:pPr>
              <a:spcAft>
                <a:spcPts val="1800"/>
              </a:spcAft>
              <a:defRPr sz="2500" b="0">
                <a:solidFill>
                  <a:srgbClr val="173238"/>
                </a:solidFill>
                <a:latin typeface="Aptos"/>
              </a:defRPr>
            </a:pPr>
            <a:r>
              <a:t>Ramayana und Mahabharata: Religion in Erzählungen</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143D43"/>
                </a:solidFill>
                <a:latin typeface="Aptos"/>
              </a:defRPr>
            </a:pPr>
            <a:r>
              <a:t>Viele Gottheiten – eine Wirklichkeit?</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173238"/>
                </a:solidFill>
                <a:latin typeface="Aptos"/>
              </a:defRPr>
            </a:pPr>
            <a:r>
              <a:t>Brahman: letzte Wirklichkeit in vielen Philosophien</a:t>
            </a:r>
          </a:p>
          <a:p>
            <a:pPr>
              <a:spcAft>
                <a:spcPts val="1800"/>
              </a:spcAft>
              <a:defRPr sz="2500" b="0">
                <a:solidFill>
                  <a:srgbClr val="173238"/>
                </a:solidFill>
                <a:latin typeface="Aptos"/>
              </a:defRPr>
            </a:pPr>
            <a:r>
              <a:t>Vishnu, Shiva und Devi: zentrale Bezugspunkte</a:t>
            </a:r>
          </a:p>
          <a:p>
            <a:pPr>
              <a:spcAft>
                <a:spcPts val="1800"/>
              </a:spcAft>
              <a:defRPr sz="2500" b="0">
                <a:solidFill>
                  <a:srgbClr val="173238"/>
                </a:solidFill>
                <a:latin typeface="Aptos"/>
              </a:defRPr>
            </a:pPr>
            <a:r>
              <a:t>Persönliche Gottesverehrung und philosophische Vielfalt</a:t>
            </a:r>
          </a:p>
          <a:p>
            <a:pPr>
              <a:spcAft>
                <a:spcPts val="1800"/>
              </a:spcAft>
              <a:defRPr sz="2500" b="0">
                <a:solidFill>
                  <a:srgbClr val="173238"/>
                </a:solidFill>
                <a:latin typeface="Aptos"/>
              </a:defRPr>
            </a:pPr>
            <a:r>
              <a:t>Brahman ≠ Brahma, die Schöpfergottheit</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3D4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F5EFE3"/>
                </a:solidFill>
                <a:latin typeface="Aptos"/>
              </a:defRPr>
            </a:pPr>
            <a:r>
              <a:t>Karma, Samsara, Moksha</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F5EFE3"/>
                </a:solidFill>
                <a:latin typeface="Aptos"/>
              </a:defRPr>
            </a:pPr>
            <a:r>
              <a:t>KARMA → Handlungen und ihre Folgen</a:t>
            </a:r>
          </a:p>
          <a:p>
            <a:pPr>
              <a:spcAft>
                <a:spcPts val="1800"/>
              </a:spcAft>
              <a:defRPr sz="2500" b="0">
                <a:solidFill>
                  <a:srgbClr val="F5EFE3"/>
                </a:solidFill>
                <a:latin typeface="Aptos"/>
              </a:defRPr>
            </a:pPr>
            <a:r>
              <a:t>SAMSARA → Kreislauf von Geburt und Wiedergeburt</a:t>
            </a:r>
          </a:p>
          <a:p>
            <a:pPr>
              <a:spcAft>
                <a:spcPts val="1800"/>
              </a:spcAft>
              <a:defRPr sz="2500" b="0">
                <a:solidFill>
                  <a:srgbClr val="F5EFE3"/>
                </a:solidFill>
                <a:latin typeface="Aptos"/>
              </a:defRPr>
            </a:pPr>
            <a:r>
              <a:t>MOKSHA → Befreiung aus diesem Kreislauf</a:t>
            </a:r>
          </a:p>
          <a:p>
            <a:pPr>
              <a:spcAft>
                <a:spcPts val="1800"/>
              </a:spcAft>
              <a:defRPr sz="2500" b="0">
                <a:solidFill>
                  <a:srgbClr val="F5EFE3"/>
                </a:solidFill>
                <a:latin typeface="Aptos"/>
              </a:defRPr>
            </a:pPr>
            <a:r>
              <a:t>Atman: Selbst; Verhältnis zu Brahman ist umstritten</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143D43"/>
                </a:solidFill>
                <a:latin typeface="Aptos"/>
              </a:defRPr>
            </a:pPr>
            <a:r>
              <a:t>Dharma: Wie soll ich leben?</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173238"/>
                </a:solidFill>
                <a:latin typeface="Aptos"/>
              </a:defRPr>
            </a:pPr>
            <a:r>
              <a:t>Dharma: Ordnung, Pflicht und angemessenes Handeln</a:t>
            </a:r>
          </a:p>
          <a:p>
            <a:pPr>
              <a:spcAft>
                <a:spcPts val="1800"/>
              </a:spcAft>
              <a:defRPr sz="2500" b="0">
                <a:solidFill>
                  <a:srgbClr val="173238"/>
                </a:solidFill>
                <a:latin typeface="Aptos"/>
              </a:defRPr>
            </a:pPr>
            <a:r>
              <a:t>Verantwortung hängt auch von Lebenssituation ab</a:t>
            </a:r>
          </a:p>
          <a:p>
            <a:pPr>
              <a:spcAft>
                <a:spcPts val="1800"/>
              </a:spcAft>
              <a:defRPr sz="2500" b="0">
                <a:solidFill>
                  <a:srgbClr val="173238"/>
                </a:solidFill>
                <a:latin typeface="Aptos"/>
              </a:defRPr>
            </a:pPr>
            <a:r>
              <a:t>Ahimsa: Nichtverletzen als wichtiges Ideal</a:t>
            </a:r>
          </a:p>
          <a:p>
            <a:pPr>
              <a:spcAft>
                <a:spcPts val="1800"/>
              </a:spcAft>
              <a:defRPr sz="2500" b="0">
                <a:solidFill>
                  <a:srgbClr val="173238"/>
                </a:solidFill>
                <a:latin typeface="Aptos"/>
              </a:defRPr>
            </a:pPr>
            <a:r>
              <a:t>Spannungsfeld: Tradition, Gewissen und Gerechtigkeit</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143D43"/>
                </a:solidFill>
                <a:latin typeface="Aptos"/>
              </a:defRPr>
            </a:pPr>
            <a:r>
              <a:t>Mehrere Wege zur Befreiung</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173238"/>
                </a:solidFill>
                <a:latin typeface="Aptos"/>
              </a:defRPr>
            </a:pPr>
            <a:r>
              <a:t>Bhakti: Hingabe und Gottesliebe</a:t>
            </a:r>
          </a:p>
          <a:p>
            <a:pPr>
              <a:spcAft>
                <a:spcPts val="1800"/>
              </a:spcAft>
              <a:defRPr sz="2500" b="0">
                <a:solidFill>
                  <a:srgbClr val="173238"/>
                </a:solidFill>
                <a:latin typeface="Aptos"/>
              </a:defRPr>
            </a:pPr>
            <a:r>
              <a:t>Jnana: Erkenntnis und Einsicht</a:t>
            </a:r>
          </a:p>
          <a:p>
            <a:pPr>
              <a:spcAft>
                <a:spcPts val="1800"/>
              </a:spcAft>
              <a:defRPr sz="2500" b="0">
                <a:solidFill>
                  <a:srgbClr val="173238"/>
                </a:solidFill>
                <a:latin typeface="Aptos"/>
              </a:defRPr>
            </a:pPr>
            <a:r>
              <a:t>Karma-Yoga: Handeln ohne Anhaften an den Erfolg</a:t>
            </a:r>
          </a:p>
          <a:p>
            <a:pPr>
              <a:spcAft>
                <a:spcPts val="1800"/>
              </a:spcAft>
              <a:defRPr sz="2500" b="0">
                <a:solidFill>
                  <a:srgbClr val="173238"/>
                </a:solidFill>
                <a:latin typeface="Aptos"/>
              </a:defRPr>
            </a:pPr>
            <a:r>
              <a:t>Meditation und Yoga: spirituelle Übung</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143D43"/>
                </a:solidFill>
                <a:latin typeface="Aptos"/>
              </a:defRPr>
            </a:pPr>
            <a:r>
              <a:t>Religion im Alltag</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173238"/>
                </a:solidFill>
                <a:latin typeface="Aptos"/>
              </a:defRPr>
            </a:pPr>
            <a:r>
              <a:t>Puja: Verehrung zu Hause oder im Tempel</a:t>
            </a:r>
          </a:p>
          <a:p>
            <a:pPr>
              <a:spcAft>
                <a:spcPts val="1800"/>
              </a:spcAft>
              <a:defRPr sz="2500" b="0">
                <a:solidFill>
                  <a:srgbClr val="173238"/>
                </a:solidFill>
                <a:latin typeface="Aptos"/>
              </a:defRPr>
            </a:pPr>
            <a:r>
              <a:t>Darshan: die Gottheit sehen und von ihr gesehen werden</a:t>
            </a:r>
          </a:p>
          <a:p>
            <a:pPr>
              <a:spcAft>
                <a:spcPts val="1800"/>
              </a:spcAft>
              <a:defRPr sz="2500" b="0">
                <a:solidFill>
                  <a:srgbClr val="173238"/>
                </a:solidFill>
                <a:latin typeface="Aptos"/>
              </a:defRPr>
            </a:pPr>
            <a:r>
              <a:t>Pilgerreisen, Mantras, Speisen und Familienrituale</a:t>
            </a:r>
          </a:p>
          <a:p>
            <a:pPr>
              <a:spcAft>
                <a:spcPts val="1800"/>
              </a:spcAft>
              <a:defRPr sz="2500" b="0">
                <a:solidFill>
                  <a:srgbClr val="173238"/>
                </a:solidFill>
                <a:latin typeface="Aptos"/>
              </a:defRPr>
            </a:pPr>
            <a:r>
              <a:t>Feste: Diwali und Holi – regional unterschiedlich</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143D43"/>
                </a:solidFill>
                <a:latin typeface="Aptos"/>
              </a:defRPr>
            </a:pPr>
            <a:r>
              <a:t>Kaste: religiöse und soziale Fragen</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173238"/>
                </a:solidFill>
                <a:latin typeface="Aptos"/>
              </a:defRPr>
            </a:pPr>
            <a:r>
              <a:t>Varna: traditionelles Modell sozialer Kategorien</a:t>
            </a:r>
          </a:p>
          <a:p>
            <a:pPr>
              <a:spcAft>
                <a:spcPts val="1800"/>
              </a:spcAft>
              <a:defRPr sz="2500" b="0">
                <a:solidFill>
                  <a:srgbClr val="173238"/>
                </a:solidFill>
                <a:latin typeface="Aptos"/>
              </a:defRPr>
            </a:pPr>
            <a:r>
              <a:t>Jati: vielfältige soziale Gruppen und Zugehörigkeiten</a:t>
            </a:r>
          </a:p>
          <a:p>
            <a:pPr>
              <a:spcAft>
                <a:spcPts val="1800"/>
              </a:spcAft>
              <a:defRPr sz="2500" b="0">
                <a:solidFill>
                  <a:srgbClr val="173238"/>
                </a:solidFill>
                <a:latin typeface="Aptos"/>
              </a:defRPr>
            </a:pPr>
            <a:r>
              <a:t>Dalits: Geschichte von Ausgrenzung und Widerstand</a:t>
            </a:r>
          </a:p>
          <a:p>
            <a:pPr>
              <a:spcAft>
                <a:spcPts val="1800"/>
              </a:spcAft>
              <a:defRPr sz="2500" b="0">
                <a:solidFill>
                  <a:srgbClr val="173238"/>
                </a:solidFill>
                <a:latin typeface="Aptos"/>
              </a:defRPr>
            </a:pPr>
            <a:r>
              <a:t>Diskriminierung besteht trotz rechtlicher Verbote fort</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143D43"/>
                </a:solidFill>
                <a:latin typeface="Aptos"/>
              </a:defRPr>
            </a:pPr>
            <a:r>
              <a:t>Hinduismus in der Gegenwart</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173238"/>
                </a:solidFill>
                <a:latin typeface="Aptos"/>
              </a:defRPr>
            </a:pPr>
            <a:r>
              <a:t>Tradition, Reform und globale Lebenswelten</a:t>
            </a:r>
          </a:p>
          <a:p>
            <a:pPr>
              <a:spcAft>
                <a:spcPts val="1800"/>
              </a:spcAft>
              <a:defRPr sz="2500" b="0">
                <a:solidFill>
                  <a:srgbClr val="173238"/>
                </a:solidFill>
                <a:latin typeface="Aptos"/>
              </a:defRPr>
            </a:pPr>
            <a:r>
              <a:t>Frauenrollen und soziale Gleichberechtigung</a:t>
            </a:r>
          </a:p>
          <a:p>
            <a:pPr>
              <a:spcAft>
                <a:spcPts val="1800"/>
              </a:spcAft>
              <a:defRPr sz="2500" b="0">
                <a:solidFill>
                  <a:srgbClr val="173238"/>
                </a:solidFill>
                <a:latin typeface="Aptos"/>
              </a:defRPr>
            </a:pPr>
            <a:r>
              <a:t>Hindutva: politischer Hindu-Nationalismus</a:t>
            </a:r>
          </a:p>
          <a:p>
            <a:pPr>
              <a:spcAft>
                <a:spcPts val="1800"/>
              </a:spcAft>
              <a:defRPr sz="2500" b="0">
                <a:solidFill>
                  <a:srgbClr val="173238"/>
                </a:solidFill>
                <a:latin typeface="Aptos"/>
              </a:defRPr>
            </a:pPr>
            <a:r>
              <a:t>Religiöser Glaube ≠ automatisch politische Ideologie</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143D43"/>
                </a:solidFill>
                <a:latin typeface="Aptos"/>
              </a:defRPr>
            </a:pPr>
            <a:r>
              <a:t>Hinduismus und Buddhismus</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173238"/>
                </a:solidFill>
                <a:latin typeface="Aptos"/>
              </a:defRPr>
            </a:pPr>
            <a:r>
              <a:t>Gemeinsam: Karma, Wiedergeburt, Befreiung</a:t>
            </a:r>
          </a:p>
          <a:p>
            <a:pPr>
              <a:spcAft>
                <a:spcPts val="1800"/>
              </a:spcAft>
              <a:defRPr sz="2500" b="0">
                <a:solidFill>
                  <a:srgbClr val="173238"/>
                </a:solidFill>
                <a:latin typeface="Aptos"/>
              </a:defRPr>
            </a:pPr>
            <a:r>
              <a:t>Unterschiedliche Deutungen von Selbst und Befreiung</a:t>
            </a:r>
          </a:p>
          <a:p>
            <a:pPr>
              <a:spcAft>
                <a:spcPts val="1800"/>
              </a:spcAft>
              <a:defRPr sz="2500" b="0">
                <a:solidFill>
                  <a:srgbClr val="173238"/>
                </a:solidFill>
                <a:latin typeface="Aptos"/>
              </a:defRPr>
            </a:pPr>
            <a:r>
              <a:t>Buddhismus: Anatta – kein dauerhaftes, unabhängiges Selbst</a:t>
            </a:r>
          </a:p>
          <a:p>
            <a:pPr>
              <a:spcAft>
                <a:spcPts val="1800"/>
              </a:spcAft>
              <a:defRPr sz="2500" b="0">
                <a:solidFill>
                  <a:srgbClr val="173238"/>
                </a:solidFill>
                <a:latin typeface="Aptos"/>
              </a:defRPr>
            </a:pPr>
            <a:r>
              <a:t>Die Bildreferenz zeigt eine buddhistische Stupa</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3D4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F5EFE3"/>
                </a:solidFill>
                <a:latin typeface="Aptos"/>
              </a:defRPr>
            </a:pPr>
            <a:r>
              <a:t>Fazit: Einheit in der Vielfalt?</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F5EFE3"/>
                </a:solidFill>
                <a:latin typeface="Aptos"/>
              </a:defRPr>
            </a:pPr>
            <a:r>
              <a:t>Gemeinsame Fragen – unterschiedliche Antworten</a:t>
            </a:r>
          </a:p>
          <a:p>
            <a:pPr>
              <a:spcAft>
                <a:spcPts val="1800"/>
              </a:spcAft>
              <a:defRPr sz="2500" b="0">
                <a:solidFill>
                  <a:srgbClr val="F5EFE3"/>
                </a:solidFill>
                <a:latin typeface="Aptos"/>
              </a:defRPr>
            </a:pPr>
            <a:r>
              <a:t>Religion umfasst Denken, Praxis und soziale Wirklichkeit</a:t>
            </a:r>
          </a:p>
          <a:p>
            <a:pPr>
              <a:spcAft>
                <a:spcPts val="1800"/>
              </a:spcAft>
              <a:defRPr sz="2500" b="0">
                <a:solidFill>
                  <a:srgbClr val="F5EFE3"/>
                </a:solidFill>
                <a:latin typeface="Aptos"/>
              </a:defRPr>
            </a:pPr>
            <a:r>
              <a:t>Diskussion: Braucht eine Religion eine einheitliche Lehre?</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Rectangle 1"/>
          <p:cNvSpPr/>
          <p:nvPr/>
        </p:nvSpPr>
        <p:spPr>
          <a:xfrm>
            <a:off x="548640" y="594360"/>
            <a:ext cx="109728" cy="5440680"/>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spAutoFit/>
          </a:bodyPr>
          <a:lstStyle/>
          <a:p>
            <a:pPr>
              <a:spcAft>
                <a:spcPts val="1800"/>
              </a:spcAft>
              <a:defRPr sz="1200" b="1">
                <a:solidFill>
                  <a:srgbClr val="C89C51"/>
                </a:solidFill>
                <a:latin typeface="Aptos"/>
              </a:defRPr>
            </a:pPr>
            <a:r>
              <a:t>HINDUISMUS · RELIGION 13</a:t>
            </a:r>
          </a:p>
        </p:txBody>
      </p:sp>
      <p:sp>
        <p:nvSpPr>
          <p:cNvPr id="4" name="TextBox 3"/>
          <p:cNvSpPr txBox="1"/>
          <p:nvPr/>
        </p:nvSpPr>
        <p:spPr>
          <a:xfrm>
            <a:off x="868680" y="1005840"/>
            <a:ext cx="10515600" cy="1143000"/>
          </a:xfrm>
          <a:prstGeom prst="rect">
            <a:avLst/>
          </a:prstGeom>
          <a:noFill/>
        </p:spPr>
        <p:txBody>
          <a:bodyPr wrap="square">
            <a:spAutoFit/>
          </a:bodyPr>
          <a:lstStyle/>
          <a:p>
            <a:pPr>
              <a:spcAft>
                <a:spcPts val="1800"/>
              </a:spcAft>
              <a:defRPr sz="3400" b="1">
                <a:solidFill>
                  <a:srgbClr val="143D43"/>
                </a:solidFill>
                <a:latin typeface="Aptos"/>
              </a:defRPr>
            </a:pPr>
            <a:r>
              <a:t>Quellen und Vertiefung</a:t>
            </a:r>
          </a:p>
        </p:txBody>
      </p:sp>
      <p:sp>
        <p:nvSpPr>
          <p:cNvPr id="5" name="TextBox 4"/>
          <p:cNvSpPr txBox="1"/>
          <p:nvPr/>
        </p:nvSpPr>
        <p:spPr>
          <a:xfrm>
            <a:off x="914400" y="2377440"/>
            <a:ext cx="10241280" cy="3566160"/>
          </a:xfrm>
          <a:prstGeom prst="rect">
            <a:avLst/>
          </a:prstGeom>
          <a:noFill/>
        </p:spPr>
        <p:txBody>
          <a:bodyPr wrap="square">
            <a:spAutoFit/>
          </a:bodyPr>
          <a:lstStyle/>
          <a:p>
            <a:pPr>
              <a:spcAft>
                <a:spcPts val="1800"/>
              </a:spcAft>
              <a:defRPr sz="2500" b="0">
                <a:solidFill>
                  <a:srgbClr val="173238"/>
                </a:solidFill>
                <a:latin typeface="Aptos"/>
              </a:defRPr>
            </a:pPr>
            <a:r>
              <a:t>Encyclopaedia Britannica: Hinduism; caste; Buddhism</a:t>
            </a:r>
          </a:p>
          <a:p>
            <a:pPr>
              <a:spcAft>
                <a:spcPts val="1800"/>
              </a:spcAft>
              <a:defRPr sz="2500" b="0">
                <a:solidFill>
                  <a:srgbClr val="173238"/>
                </a:solidFill>
                <a:latin typeface="Aptos"/>
              </a:defRPr>
            </a:pPr>
            <a:r>
              <a:t>BBC Religion: Hinduism – beliefs and worship</a:t>
            </a:r>
          </a:p>
          <a:p>
            <a:pPr>
              <a:spcAft>
                <a:spcPts val="1800"/>
              </a:spcAft>
              <a:defRPr sz="2500" b="0">
                <a:solidFill>
                  <a:srgbClr val="173238"/>
                </a:solidFill>
                <a:latin typeface="Aptos"/>
              </a:defRPr>
            </a:pPr>
            <a:r>
              <a:t>Bhagavadgita, besonders Kapitel 2–4 und 12</a:t>
            </a:r>
          </a:p>
          <a:p>
            <a:pPr>
              <a:spcAft>
                <a:spcPts val="1800"/>
              </a:spcAft>
              <a:defRPr sz="2500" b="0">
                <a:solidFill>
                  <a:srgbClr val="173238"/>
                </a:solidFill>
                <a:latin typeface="Aptos"/>
              </a:defRPr>
            </a:pPr>
            <a:r>
              <a:t>Indische Verfassung, Artikel 17</a:t>
            </a:r>
          </a:p>
          <a:p>
            <a:pPr>
              <a:spcAft>
                <a:spcPts val="1800"/>
              </a:spcAft>
              <a:defRPr sz="2500" b="0">
                <a:solidFill>
                  <a:srgbClr val="173238"/>
                </a:solidFill>
                <a:latin typeface="Aptos"/>
              </a:defRPr>
            </a:pPr>
            <a:r>
              <a:t>Bildreferenz: Raimond Klavins / Unsplash via WeRoad</a:t>
            </a:r>
          </a:p>
        </p:txBody>
      </p:sp>
      <p:sp>
        <p:nvSpPr>
          <p:cNvPr id="6" name="TextBox 5"/>
          <p:cNvSpPr txBox="1"/>
          <p:nvPr/>
        </p:nvSpPr>
        <p:spPr>
          <a:xfrm>
            <a:off x="914400" y="6446520"/>
            <a:ext cx="9144000" cy="228600"/>
          </a:xfrm>
          <a:prstGeom prst="rect">
            <a:avLst/>
          </a:prstGeom>
          <a:noFill/>
        </p:spPr>
        <p:txBody>
          <a:bodyPr wrap="square">
            <a:spAutoFit/>
          </a:bodyPr>
          <a:lstStyle/>
          <a:p>
            <a:pPr>
              <a:spcAft>
                <a:spcPts val="1800"/>
              </a:spcAft>
              <a:defRPr sz="1000" b="0">
                <a:solidFill>
                  <a:srgbClr val="C89C51"/>
                </a:solidFill>
                <a:latin typeface="Aptos"/>
              </a:defRPr>
            </a:pPr>
            <a:r>
              <a:t>Vielfalt verstehen · Begriffe verbinden · kritisch nachfragen</a:t>
            </a:r>
          </a:p>
        </p:txBody>
      </p:sp>
      <p:sp>
        <p:nvSpPr>
          <p:cNvPr id="7" name="TextBox 6"/>
          <p:cNvSpPr txBox="1"/>
          <p:nvPr/>
        </p:nvSpPr>
        <p:spPr>
          <a:xfrm>
            <a:off x="10972800" y="6428232"/>
            <a:ext cx="457200" cy="274320"/>
          </a:xfrm>
          <a:prstGeom prst="rect">
            <a:avLst/>
          </a:prstGeom>
          <a:noFill/>
        </p:spPr>
        <p:txBody>
          <a:bodyPr wrap="square">
            <a:spAutoFit/>
          </a:bodyPr>
          <a:lstStyle/>
          <a:p>
            <a:pPr>
              <a:spcAft>
                <a:spcPts val="1800"/>
              </a:spcAft>
              <a:defRPr sz="1100" b="0">
                <a:solidFill>
                  <a:srgbClr val="C89C51"/>
                </a:solidFill>
                <a:latin typeface="Aptos"/>
              </a:defRPr>
            </a:pPr>
            <a: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